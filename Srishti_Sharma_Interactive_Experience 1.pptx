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SrishtiSharma_RESUME.pdf (user-provided resume)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SrishtiSharma_RESUME.pdf (user-provided resume)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SrishtiSharma_RESUME.pdf (user-provided resume)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SrishtiSharma_RESUME.pdf (user-provided resume)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SrishtiSharma_RESUME.pdf (user-provided resume)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SrishtiSharma_RESUME.pdf (user-provided resume)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SrishtiSharma_RESUME.pdf (user-provided resume)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0713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C2E9"/>
          </a:solidFill>
          <a:ln w="12700">
            <a:solidFill>
              <a:srgbClr val="12C2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12C2E9"/>
                </a:solidFill>
              </a:rPr>
              <a:t>TURNING COMPLEXITY INTO PROGRESS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406640" y="164592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9B8CE"/>
                </a:solidFill>
              </a:rPr>
              <a:t>SRISHTI SHARMA  •  EXPERIENCE OS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6565392"/>
            <a:ext cx="11521440" cy="0"/>
          </a:xfrm>
          <a:prstGeom prst="line">
            <a:avLst/>
          </a:prstGeom>
          <a:noFill/>
          <a:ln w="8890">
            <a:solidFill>
              <a:srgbClr val="29456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601968"/>
            <a:ext cx="219456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A9B8C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601968"/>
            <a:ext cx="219456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A9B8C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slide" Target="slide3.xml"/><Relationship Id="rId7" Type="http://schemas.openxmlformats.org/officeDocument/2006/relationships/slide" Target="slide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5" Type="http://schemas.openxmlformats.org/officeDocument/2006/relationships/slide" Target="slide1.xml"/><Relationship Id="rId4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slide" Target="slide5.xml"/><Relationship Id="rId7" Type="http://schemas.openxmlformats.org/officeDocument/2006/relationships/slide" Target="slide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5" Type="http://schemas.openxmlformats.org/officeDocument/2006/relationships/slide" Target="slide1.xml"/><Relationship Id="rId4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slide" Target="slide1.xml"/><Relationship Id="rId7" Type="http://schemas.openxmlformats.org/officeDocument/2006/relationships/slide" Target="slide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4.xml"/><Relationship Id="rId5" Type="http://schemas.openxmlformats.org/officeDocument/2006/relationships/slide" Target="slide3.xml"/><Relationship Id="rId4" Type="http://schemas.openxmlformats.org/officeDocument/2006/relationships/slide" Target="slide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slide" Target="slide3.xml"/><Relationship Id="rId7" Type="http://schemas.openxmlformats.org/officeDocument/2006/relationships/slide" Target="slide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4.xml"/><Relationship Id="rId5" Type="http://schemas.openxmlformats.org/officeDocument/2006/relationships/slide" Target="slide1.xml"/><Relationship Id="rId4" Type="http://schemas.openxmlformats.org/officeDocument/2006/relationships/slide" Target="slide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slide" Target="slide1.xml"/><Relationship Id="rId7" Type="http://schemas.openxmlformats.org/officeDocument/2006/relationships/slide" Target="slide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slide" Target="slide4.xml"/><Relationship Id="rId5" Type="http://schemas.openxmlformats.org/officeDocument/2006/relationships/slide" Target="slide3.xml"/><Relationship Id="rId4" Type="http://schemas.openxmlformats.org/officeDocument/2006/relationships/slide" Target="slid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7" Type="http://schemas.openxmlformats.org/officeDocument/2006/relationships/slide" Target="slide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slide" Target="slide4.xml"/><Relationship Id="rId5" Type="http://schemas.openxmlformats.org/officeDocument/2006/relationships/slide" Target="slide2.xml"/><Relationship Id="rId4" Type="http://schemas.openxmlformats.org/officeDocument/2006/relationships/slide" Target="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11480" y="7315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2C2E9"/>
                </a:solidFill>
              </a:rPr>
              <a:t>PROFESSIONAL EXPERIENCE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1115568"/>
            <a:ext cx="5943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8FBFF"/>
                </a:solidFill>
              </a:rPr>
              <a:t>Turning Complexity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8FBFF"/>
                </a:solidFill>
              </a:rPr>
              <a:t>Into Progress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8FBFF"/>
                </a:solidFill>
              </a:rPr>
              <a:t>Since Day One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38912" y="32004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A9B8CE"/>
                </a:solidFill>
              </a:rPr>
              <a:t>A clickable, editable career story connecting execution, intelligence and client impact.</a:t>
            </a:r>
            <a:endParaRPr lang="en-US" sz="1300" dirty="0"/>
          </a:p>
        </p:txBody>
      </p:sp>
      <p:sp>
        <p:nvSpPr>
          <p:cNvPr id="5" name="Shape 3">
            <a:hlinkClick r:id="rId3" action="ppaction://hlinksldjump"/>
          </p:cNvPr>
          <p:cNvSpPr/>
          <p:nvPr/>
        </p:nvSpPr>
        <p:spPr>
          <a:xfrm>
            <a:off x="438912" y="3977640"/>
            <a:ext cx="2423160" cy="320040"/>
          </a:xfrm>
          <a:prstGeom prst="roundRect">
            <a:avLst>
              <a:gd name="adj" fmla="val 28571"/>
            </a:avLst>
          </a:prstGeom>
          <a:solidFill>
            <a:srgbClr val="12C2E9">
              <a:alpha val="94000"/>
            </a:srgbClr>
          </a:solidFill>
          <a:ln w="12700">
            <a:solidFill>
              <a:srgbClr val="12C2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93776" y="4059936"/>
            <a:ext cx="23134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8FBFF"/>
                </a:solidFill>
              </a:rPr>
              <a:t>ENTER THE EXPERIENCE →</a:t>
            </a:r>
            <a:endParaRPr lang="en-US" sz="820" dirty="0"/>
          </a:p>
        </p:txBody>
      </p:sp>
      <p:sp>
        <p:nvSpPr>
          <p:cNvPr id="7" name="Text 5">
            <a:hlinkClick r:id="rId3" action="ppaction://hlinksldjump"/>
          </p:cNvPr>
          <p:cNvSpPr/>
          <p:nvPr/>
        </p:nvSpPr>
        <p:spPr>
          <a:xfrm>
            <a:off x="438912" y="39776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720840" y="1005840"/>
            <a:ext cx="4389120" cy="4389120"/>
          </a:xfrm>
          <a:prstGeom prst="ellipse">
            <a:avLst/>
          </a:prstGeom>
          <a:solidFill>
            <a:srgbClr val="0D2140">
              <a:alpha val="85000"/>
            </a:srgbClr>
          </a:solidFill>
          <a:ln w="16510">
            <a:solidFill>
              <a:srgbClr val="29456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479792" y="1764792"/>
            <a:ext cx="2871216" cy="2871216"/>
          </a:xfrm>
          <a:prstGeom prst="ellipse">
            <a:avLst/>
          </a:prstGeom>
          <a:solidFill>
            <a:srgbClr val="102A50"/>
          </a:solidFill>
          <a:ln w="25400">
            <a:solidFill>
              <a:srgbClr val="12C2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982712" y="239572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9B8CE"/>
                </a:solidFill>
              </a:rPr>
              <a:t>COMPLEXITY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13064" y="27889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2C2E9"/>
                </a:solidFill>
              </a:rPr>
              <a:t>→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982712" y="331012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BFF"/>
                </a:solidFill>
              </a:rPr>
              <a:t>PROGRESS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46520" y="914400"/>
            <a:ext cx="1234440" cy="1234440"/>
          </a:xfrm>
          <a:prstGeom prst="ellipse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611112" y="1179576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326"/>
                </a:solidFill>
              </a:rPr>
              <a:t>150+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56248" y="1600200"/>
            <a:ext cx="1014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71326"/>
                </a:solidFill>
              </a:rPr>
              <a:t>Initiatives completed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0012680" y="1097280"/>
            <a:ext cx="1234440" cy="1234440"/>
          </a:xfrm>
          <a:prstGeom prst="ellipse">
            <a:avLst/>
          </a:prstGeom>
          <a:solidFill>
            <a:srgbClr val="12C2E9"/>
          </a:solidFill>
          <a:ln w="12700">
            <a:solidFill>
              <a:srgbClr val="12C2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0177272" y="1362456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326"/>
                </a:solidFill>
              </a:rPr>
              <a:t>20+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122408" y="1783080"/>
            <a:ext cx="1014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71326"/>
                </a:solidFill>
              </a:rPr>
              <a:t>Tier-1 Global clients managed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0104120" y="4343400"/>
            <a:ext cx="1234440" cy="1234440"/>
          </a:xfrm>
          <a:prstGeom prst="ellipse">
            <a:avLst/>
          </a:prstGeom>
          <a:solidFill>
            <a:srgbClr val="FF5B7F"/>
          </a:solidFill>
          <a:ln w="12700">
            <a:solidFill>
              <a:srgbClr val="FF5B7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0268712" y="4608576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326"/>
                </a:solidFill>
              </a:rPr>
              <a:t>30+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213848" y="5029200"/>
            <a:ext cx="1014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71326"/>
                </a:solidFill>
              </a:rPr>
              <a:t>Escalations managed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263640" y="4434840"/>
            <a:ext cx="1234440" cy="1234440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428232" y="4700016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326"/>
                </a:solidFill>
              </a:rPr>
              <a:t>80%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373368" y="5120640"/>
            <a:ext cx="1014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71326"/>
                </a:solidFill>
              </a:rPr>
              <a:t>effort reduced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601968"/>
            <a:ext cx="219456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A9B8C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384048" y="5303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2C2E9"/>
                </a:solidFill>
              </a:rPr>
              <a:t>01 • INTERACTIVE CAREER 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84048" y="822960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FBFF"/>
                </a:solidFill>
              </a:rPr>
              <a:t>Three years. Five capability layers. One compounding trajectory.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84048" y="135331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A9B8CE"/>
                </a:solidFill>
              </a:rPr>
              <a:t>Click the milestone cards to jump into impact, projects and skills. Every element is editable.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423160" y="1764792"/>
            <a:ext cx="839585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12C2E9"/>
                </a:solidFill>
              </a:rPr>
              <a:t>Q1 24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2423160" y="2011680"/>
            <a:ext cx="1" cy="3493008"/>
          </a:xfrm>
          <a:prstGeom prst="line">
            <a:avLst/>
          </a:prstGeom>
          <a:noFill/>
          <a:ln w="12700">
            <a:solidFill>
              <a:srgbClr val="29456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62745" y="1764792"/>
            <a:ext cx="839585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A9B8CE"/>
                </a:solidFill>
              </a:rPr>
              <a:t>Q2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3262745" y="2011680"/>
            <a:ext cx="1" cy="3493008"/>
          </a:xfrm>
          <a:prstGeom prst="line">
            <a:avLst/>
          </a:prstGeom>
          <a:noFill/>
          <a:ln w="5080">
            <a:solidFill>
              <a:srgbClr val="29456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102331" y="1764792"/>
            <a:ext cx="839585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A9B8CE"/>
                </a:solidFill>
              </a:rPr>
              <a:t>Q3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4102331" y="2011680"/>
            <a:ext cx="1" cy="3493008"/>
          </a:xfrm>
          <a:prstGeom prst="line">
            <a:avLst/>
          </a:prstGeom>
          <a:noFill/>
          <a:ln w="5080">
            <a:solidFill>
              <a:srgbClr val="29456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941916" y="1764792"/>
            <a:ext cx="839585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A9B8CE"/>
                </a:solidFill>
              </a:rPr>
              <a:t>Q4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4941916" y="2011680"/>
            <a:ext cx="1" cy="3493008"/>
          </a:xfrm>
          <a:prstGeom prst="line">
            <a:avLst/>
          </a:prstGeom>
          <a:noFill/>
          <a:ln w="5080">
            <a:solidFill>
              <a:srgbClr val="29456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781502" y="1764792"/>
            <a:ext cx="839585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12C2E9"/>
                </a:solidFill>
              </a:rPr>
              <a:t>Q1 25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5781502" y="2011680"/>
            <a:ext cx="1" cy="3493008"/>
          </a:xfrm>
          <a:prstGeom prst="line">
            <a:avLst/>
          </a:prstGeom>
          <a:noFill/>
          <a:ln w="12700">
            <a:solidFill>
              <a:srgbClr val="29456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621087" y="1764792"/>
            <a:ext cx="839585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A9B8CE"/>
                </a:solidFill>
              </a:rPr>
              <a:t>Q2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6621087" y="2011680"/>
            <a:ext cx="1" cy="3493008"/>
          </a:xfrm>
          <a:prstGeom prst="line">
            <a:avLst/>
          </a:prstGeom>
          <a:noFill/>
          <a:ln w="5080">
            <a:solidFill>
              <a:srgbClr val="29456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460673" y="1764792"/>
            <a:ext cx="839585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A9B8CE"/>
                </a:solidFill>
              </a:rPr>
              <a:t>Q3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7460673" y="2011680"/>
            <a:ext cx="1" cy="3493008"/>
          </a:xfrm>
          <a:prstGeom prst="line">
            <a:avLst/>
          </a:prstGeom>
          <a:noFill/>
          <a:ln w="5080">
            <a:solidFill>
              <a:srgbClr val="29456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300258" y="1764792"/>
            <a:ext cx="839585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A9B8CE"/>
                </a:solidFill>
              </a:rPr>
              <a:t>Q4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8300258" y="2011680"/>
            <a:ext cx="1" cy="3493008"/>
          </a:xfrm>
          <a:prstGeom prst="line">
            <a:avLst/>
          </a:prstGeom>
          <a:noFill/>
          <a:ln w="5080">
            <a:solidFill>
              <a:srgbClr val="29456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139844" y="1764792"/>
            <a:ext cx="839585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12C2E9"/>
                </a:solidFill>
              </a:rPr>
              <a:t>Q1 26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9139844" y="2011680"/>
            <a:ext cx="1" cy="3493008"/>
          </a:xfrm>
          <a:prstGeom prst="line">
            <a:avLst/>
          </a:prstGeom>
          <a:noFill/>
          <a:ln w="12700">
            <a:solidFill>
              <a:srgbClr val="29456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9979429" y="1764792"/>
            <a:ext cx="839585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A9B8CE"/>
                </a:solidFill>
              </a:rPr>
              <a:t>Q2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9979429" y="2011680"/>
            <a:ext cx="1" cy="3493008"/>
          </a:xfrm>
          <a:prstGeom prst="line">
            <a:avLst/>
          </a:prstGeom>
          <a:noFill/>
          <a:ln w="5080">
            <a:solidFill>
              <a:srgbClr val="29456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0819015" y="1764792"/>
            <a:ext cx="839585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A9B8CE"/>
                </a:solidFill>
              </a:rPr>
              <a:t>Q3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10819015" y="2011680"/>
            <a:ext cx="1" cy="3493008"/>
          </a:xfrm>
          <a:prstGeom prst="line">
            <a:avLst/>
          </a:prstGeom>
          <a:noFill/>
          <a:ln w="5080">
            <a:solidFill>
              <a:srgbClr val="29456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93192" y="2112264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b="1" dirty="0">
                <a:solidFill>
                  <a:srgbClr val="9B87F5"/>
                </a:solidFill>
              </a:rPr>
              <a:t>ROLE</a:t>
            </a:r>
            <a:endParaRPr lang="en-US" sz="620" dirty="0"/>
          </a:p>
        </p:txBody>
      </p:sp>
      <p:sp>
        <p:nvSpPr>
          <p:cNvPr id="28" name="Text 26"/>
          <p:cNvSpPr/>
          <p:nvPr/>
        </p:nvSpPr>
        <p:spPr>
          <a:xfrm>
            <a:off x="896112" y="208483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F8FBFF"/>
                </a:solidFill>
              </a:rPr>
              <a:t>Business Operations Analyst</a:t>
            </a:r>
            <a:endParaRPr lang="en-US" sz="760" dirty="0"/>
          </a:p>
        </p:txBody>
      </p:sp>
      <p:sp>
        <p:nvSpPr>
          <p:cNvPr id="29" name="Shape 27">
            <a:hlinkClick r:id="rId3" action="ppaction://hlinksldjump"/>
          </p:cNvPr>
          <p:cNvSpPr/>
          <p:nvPr/>
        </p:nvSpPr>
        <p:spPr>
          <a:xfrm>
            <a:off x="2423160" y="2093976"/>
            <a:ext cx="3358342" cy="228600"/>
          </a:xfrm>
          <a:prstGeom prst="roundRect">
            <a:avLst>
              <a:gd name="adj" fmla="val 20000"/>
            </a:avLst>
          </a:prstGeom>
          <a:solidFill>
            <a:srgbClr val="9B87F5"/>
          </a:solidFill>
          <a:ln w="12700">
            <a:solidFill>
              <a:srgbClr val="9B87F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0" name="Text 28"/>
          <p:cNvSpPr/>
          <p:nvPr/>
        </p:nvSpPr>
        <p:spPr>
          <a:xfrm>
            <a:off x="2478024" y="2153412"/>
            <a:ext cx="324861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40" b="1" dirty="0">
                <a:solidFill>
                  <a:srgbClr val="071326"/>
                </a:solidFill>
              </a:rPr>
              <a:t>Build</a:t>
            </a:r>
            <a:endParaRPr lang="en-US" sz="640" dirty="0"/>
          </a:p>
        </p:txBody>
      </p:sp>
      <p:sp>
        <p:nvSpPr>
          <p:cNvPr id="31" name="Text 29"/>
          <p:cNvSpPr/>
          <p:nvPr/>
        </p:nvSpPr>
        <p:spPr>
          <a:xfrm>
            <a:off x="393192" y="2569464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b="1" dirty="0">
                <a:solidFill>
                  <a:srgbClr val="12C2E9"/>
                </a:solidFill>
              </a:rPr>
              <a:t>ROLE</a:t>
            </a:r>
            <a:endParaRPr lang="en-US" sz="620" dirty="0"/>
          </a:p>
        </p:txBody>
      </p:sp>
      <p:sp>
        <p:nvSpPr>
          <p:cNvPr id="32" name="Text 30"/>
          <p:cNvSpPr/>
          <p:nvPr/>
        </p:nvSpPr>
        <p:spPr>
          <a:xfrm>
            <a:off x="896112" y="254203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F8FBFF"/>
                </a:solidFill>
              </a:rPr>
              <a:t>Technical Account Manager</a:t>
            </a:r>
            <a:endParaRPr lang="en-US" sz="760" dirty="0"/>
          </a:p>
        </p:txBody>
      </p:sp>
      <p:sp>
        <p:nvSpPr>
          <p:cNvPr id="33" name="Shape 31">
            <a:hlinkClick r:id="rId3" action="ppaction://hlinksldjump"/>
          </p:cNvPr>
          <p:cNvSpPr/>
          <p:nvPr/>
        </p:nvSpPr>
        <p:spPr>
          <a:xfrm>
            <a:off x="5781502" y="2551176"/>
            <a:ext cx="5877098" cy="228600"/>
          </a:xfrm>
          <a:prstGeom prst="roundRect">
            <a:avLst>
              <a:gd name="adj" fmla="val 20000"/>
            </a:avLst>
          </a:prstGeom>
          <a:solidFill>
            <a:srgbClr val="12C2E9"/>
          </a:solidFill>
          <a:ln w="12700">
            <a:solidFill>
              <a:srgbClr val="12C2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836366" y="2610612"/>
            <a:ext cx="576737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40" b="1" dirty="0">
                <a:solidFill>
                  <a:srgbClr val="071326"/>
                </a:solidFill>
              </a:rPr>
              <a:t>Lead</a:t>
            </a:r>
            <a:endParaRPr lang="en-US" sz="640" dirty="0"/>
          </a:p>
        </p:txBody>
      </p:sp>
      <p:sp>
        <p:nvSpPr>
          <p:cNvPr id="35" name="Text 33"/>
          <p:cNvSpPr/>
          <p:nvPr/>
        </p:nvSpPr>
        <p:spPr>
          <a:xfrm>
            <a:off x="393192" y="3026664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b="1" dirty="0">
                <a:solidFill>
                  <a:srgbClr val="FF9F43"/>
                </a:solidFill>
              </a:rPr>
              <a:t>SYSTEM</a:t>
            </a:r>
            <a:endParaRPr lang="en-US" sz="620" dirty="0"/>
          </a:p>
        </p:txBody>
      </p:sp>
      <p:sp>
        <p:nvSpPr>
          <p:cNvPr id="36" name="Text 34"/>
          <p:cNvSpPr/>
          <p:nvPr/>
        </p:nvSpPr>
        <p:spPr>
          <a:xfrm>
            <a:off x="896112" y="299923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F8FBFF"/>
                </a:solidFill>
              </a:rPr>
              <a:t>TAM Intelligence Platform</a:t>
            </a:r>
            <a:endParaRPr lang="en-US" sz="760" dirty="0"/>
          </a:p>
        </p:txBody>
      </p:sp>
      <p:sp>
        <p:nvSpPr>
          <p:cNvPr id="37" name="Shape 35">
            <a:hlinkClick r:id="rId4" action="ppaction://hlinksldjump"/>
          </p:cNvPr>
          <p:cNvSpPr/>
          <p:nvPr/>
        </p:nvSpPr>
        <p:spPr>
          <a:xfrm>
            <a:off x="2675036" y="3008376"/>
            <a:ext cx="2854591" cy="228600"/>
          </a:xfrm>
          <a:prstGeom prst="roundRect">
            <a:avLst>
              <a:gd name="adj" fmla="val 20000"/>
            </a:avLst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2729900" y="3067812"/>
            <a:ext cx="2744863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40" b="1" dirty="0">
                <a:solidFill>
                  <a:srgbClr val="071326"/>
                </a:solidFill>
              </a:rPr>
              <a:t>70%+ ↓</a:t>
            </a:r>
            <a:endParaRPr lang="en-US" sz="640" dirty="0"/>
          </a:p>
        </p:txBody>
      </p:sp>
      <p:sp>
        <p:nvSpPr>
          <p:cNvPr id="39" name="Text 37"/>
          <p:cNvSpPr/>
          <p:nvPr/>
        </p:nvSpPr>
        <p:spPr>
          <a:xfrm>
            <a:off x="393192" y="3483864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b="1" dirty="0">
                <a:solidFill>
                  <a:srgbClr val="FF9F43"/>
                </a:solidFill>
              </a:rPr>
              <a:t>SYSTEM</a:t>
            </a:r>
            <a:endParaRPr lang="en-US" sz="620" dirty="0"/>
          </a:p>
        </p:txBody>
      </p:sp>
      <p:sp>
        <p:nvSpPr>
          <p:cNvPr id="40" name="Text 38"/>
          <p:cNvSpPr/>
          <p:nvPr/>
        </p:nvSpPr>
        <p:spPr>
          <a:xfrm>
            <a:off x="896112" y="345643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F8FBFF"/>
                </a:solidFill>
              </a:rPr>
              <a:t>Client Engagement Platform</a:t>
            </a:r>
            <a:endParaRPr lang="en-US" sz="760" dirty="0"/>
          </a:p>
        </p:txBody>
      </p:sp>
      <p:sp>
        <p:nvSpPr>
          <p:cNvPr id="41" name="Shape 39">
            <a:hlinkClick r:id="rId4" action="ppaction://hlinksldjump"/>
          </p:cNvPr>
          <p:cNvSpPr/>
          <p:nvPr/>
        </p:nvSpPr>
        <p:spPr>
          <a:xfrm>
            <a:off x="3682538" y="3465576"/>
            <a:ext cx="2015005" cy="228600"/>
          </a:xfrm>
          <a:prstGeom prst="roundRect">
            <a:avLst>
              <a:gd name="adj" fmla="val 20000"/>
            </a:avLst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737402" y="3525012"/>
            <a:ext cx="1905277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40" b="1" dirty="0">
                <a:solidFill>
                  <a:srgbClr val="071326"/>
                </a:solidFill>
              </a:rPr>
              <a:t>83% ↓</a:t>
            </a:r>
            <a:endParaRPr lang="en-US" sz="640" dirty="0"/>
          </a:p>
        </p:txBody>
      </p:sp>
      <p:sp>
        <p:nvSpPr>
          <p:cNvPr id="43" name="Text 41"/>
          <p:cNvSpPr/>
          <p:nvPr/>
        </p:nvSpPr>
        <p:spPr>
          <a:xfrm>
            <a:off x="393192" y="3941064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b="1" dirty="0">
                <a:solidFill>
                  <a:srgbClr val="FF9F43"/>
                </a:solidFill>
              </a:rPr>
              <a:t>SYSTEM</a:t>
            </a:r>
            <a:endParaRPr lang="en-US" sz="620" dirty="0"/>
          </a:p>
        </p:txBody>
      </p:sp>
      <p:sp>
        <p:nvSpPr>
          <p:cNvPr id="44" name="Text 42"/>
          <p:cNvSpPr/>
          <p:nvPr/>
        </p:nvSpPr>
        <p:spPr>
          <a:xfrm>
            <a:off x="896112" y="391363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F8FBFF"/>
                </a:solidFill>
              </a:rPr>
              <a:t>Client 360 WebApp</a:t>
            </a:r>
            <a:endParaRPr lang="en-US" sz="760" dirty="0"/>
          </a:p>
        </p:txBody>
      </p:sp>
      <p:sp>
        <p:nvSpPr>
          <p:cNvPr id="45" name="Shape 43">
            <a:hlinkClick r:id="rId4" action="ppaction://hlinksldjump"/>
          </p:cNvPr>
          <p:cNvSpPr/>
          <p:nvPr/>
        </p:nvSpPr>
        <p:spPr>
          <a:xfrm>
            <a:off x="4270248" y="3922776"/>
            <a:ext cx="1595212" cy="228600"/>
          </a:xfrm>
          <a:prstGeom prst="roundRect">
            <a:avLst>
              <a:gd name="adj" fmla="val 20000"/>
            </a:avLst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325112" y="3982212"/>
            <a:ext cx="148548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40" b="1" dirty="0">
                <a:solidFill>
                  <a:srgbClr val="071326"/>
                </a:solidFill>
              </a:rPr>
              <a:t>70%+ ↑</a:t>
            </a:r>
            <a:endParaRPr lang="en-US" sz="640" dirty="0"/>
          </a:p>
        </p:txBody>
      </p:sp>
      <p:sp>
        <p:nvSpPr>
          <p:cNvPr id="47" name="Text 45"/>
          <p:cNvSpPr/>
          <p:nvPr/>
        </p:nvSpPr>
        <p:spPr>
          <a:xfrm>
            <a:off x="393192" y="4398264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b="1" dirty="0">
                <a:solidFill>
                  <a:srgbClr val="2F80ED"/>
                </a:solidFill>
              </a:rPr>
              <a:t>IMPACT</a:t>
            </a:r>
            <a:endParaRPr lang="en-US" sz="620" dirty="0"/>
          </a:p>
        </p:txBody>
      </p:sp>
      <p:sp>
        <p:nvSpPr>
          <p:cNvPr id="48" name="Text 46"/>
          <p:cNvSpPr/>
          <p:nvPr/>
        </p:nvSpPr>
        <p:spPr>
          <a:xfrm>
            <a:off x="896112" y="437083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F8FBFF"/>
                </a:solidFill>
              </a:rPr>
              <a:t>Global banking portfolio</a:t>
            </a:r>
            <a:endParaRPr lang="en-US" sz="760" dirty="0"/>
          </a:p>
        </p:txBody>
      </p:sp>
      <p:sp>
        <p:nvSpPr>
          <p:cNvPr id="49" name="Shape 47">
            <a:hlinkClick r:id="rId3" action="ppaction://hlinksldjump"/>
          </p:cNvPr>
          <p:cNvSpPr/>
          <p:nvPr/>
        </p:nvSpPr>
        <p:spPr>
          <a:xfrm>
            <a:off x="5781502" y="4379976"/>
            <a:ext cx="5877098" cy="228600"/>
          </a:xfrm>
          <a:prstGeom prst="roundRect">
            <a:avLst>
              <a:gd name="adj" fmla="val 20000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5836366" y="4439412"/>
            <a:ext cx="576737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40" b="1" dirty="0">
                <a:solidFill>
                  <a:srgbClr val="071326"/>
                </a:solidFill>
              </a:rPr>
              <a:t>20+ clients</a:t>
            </a:r>
            <a:endParaRPr lang="en-US" sz="640" dirty="0"/>
          </a:p>
        </p:txBody>
      </p:sp>
      <p:sp>
        <p:nvSpPr>
          <p:cNvPr id="51" name="Text 49"/>
          <p:cNvSpPr/>
          <p:nvPr/>
        </p:nvSpPr>
        <p:spPr>
          <a:xfrm>
            <a:off x="393192" y="4855464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b="1" dirty="0">
                <a:solidFill>
                  <a:srgbClr val="A3E635"/>
                </a:solidFill>
              </a:rPr>
              <a:t>IMPACT</a:t>
            </a:r>
            <a:endParaRPr lang="en-US" sz="620" dirty="0"/>
          </a:p>
        </p:txBody>
      </p:sp>
      <p:sp>
        <p:nvSpPr>
          <p:cNvPr id="52" name="Text 50"/>
          <p:cNvSpPr/>
          <p:nvPr/>
        </p:nvSpPr>
        <p:spPr>
          <a:xfrm>
            <a:off x="896112" y="482803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F8FBFF"/>
                </a:solidFill>
              </a:rPr>
              <a:t>Transformation delivery</a:t>
            </a:r>
            <a:endParaRPr lang="en-US" sz="760" dirty="0"/>
          </a:p>
        </p:txBody>
      </p:sp>
      <p:sp>
        <p:nvSpPr>
          <p:cNvPr id="53" name="Shape 51">
            <a:hlinkClick r:id="rId3" action="ppaction://hlinksldjump"/>
          </p:cNvPr>
          <p:cNvSpPr/>
          <p:nvPr/>
        </p:nvSpPr>
        <p:spPr>
          <a:xfrm>
            <a:off x="5865460" y="4837176"/>
            <a:ext cx="5793140" cy="228600"/>
          </a:xfrm>
          <a:prstGeom prst="roundRect">
            <a:avLst>
              <a:gd name="adj" fmla="val 20000"/>
            </a:avLst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5920324" y="4896612"/>
            <a:ext cx="568341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40" b="1" dirty="0">
                <a:solidFill>
                  <a:srgbClr val="071326"/>
                </a:solidFill>
              </a:rPr>
              <a:t>150+</a:t>
            </a:r>
            <a:endParaRPr lang="en-US" sz="640" dirty="0"/>
          </a:p>
        </p:txBody>
      </p:sp>
      <p:sp>
        <p:nvSpPr>
          <p:cNvPr id="55" name="Text 53"/>
          <p:cNvSpPr/>
          <p:nvPr/>
        </p:nvSpPr>
        <p:spPr>
          <a:xfrm>
            <a:off x="393192" y="5312664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b="1" dirty="0">
                <a:solidFill>
                  <a:srgbClr val="FF5B7F"/>
                </a:solidFill>
              </a:rPr>
              <a:t>IMPACT</a:t>
            </a:r>
            <a:endParaRPr lang="en-US" sz="620" dirty="0"/>
          </a:p>
        </p:txBody>
      </p:sp>
      <p:sp>
        <p:nvSpPr>
          <p:cNvPr id="56" name="Text 54"/>
          <p:cNvSpPr/>
          <p:nvPr/>
        </p:nvSpPr>
        <p:spPr>
          <a:xfrm>
            <a:off x="896112" y="528523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F8FBFF"/>
                </a:solidFill>
              </a:rPr>
              <a:t>Priority escalations</a:t>
            </a:r>
            <a:endParaRPr lang="en-US" sz="760" dirty="0"/>
          </a:p>
        </p:txBody>
      </p:sp>
      <p:sp>
        <p:nvSpPr>
          <p:cNvPr id="57" name="Shape 55">
            <a:hlinkClick r:id="rId3" action="ppaction://hlinksldjump"/>
          </p:cNvPr>
          <p:cNvSpPr/>
          <p:nvPr/>
        </p:nvSpPr>
        <p:spPr>
          <a:xfrm>
            <a:off x="6285253" y="5294376"/>
            <a:ext cx="5373347" cy="228600"/>
          </a:xfrm>
          <a:prstGeom prst="roundRect">
            <a:avLst>
              <a:gd name="adj" fmla="val 20000"/>
            </a:avLst>
          </a:prstGeom>
          <a:solidFill>
            <a:srgbClr val="FF5B7F"/>
          </a:solidFill>
          <a:ln w="12700">
            <a:solidFill>
              <a:srgbClr val="FF5B7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6340117" y="5353812"/>
            <a:ext cx="5263619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40" b="1" dirty="0">
                <a:solidFill>
                  <a:srgbClr val="071326"/>
                </a:solidFill>
              </a:rPr>
              <a:t>30+</a:t>
            </a:r>
            <a:endParaRPr lang="en-US" sz="640" dirty="0"/>
          </a:p>
        </p:txBody>
      </p:sp>
      <p:sp>
        <p:nvSpPr>
          <p:cNvPr id="59" name="Text 57"/>
          <p:cNvSpPr/>
          <p:nvPr/>
        </p:nvSpPr>
        <p:spPr>
          <a:xfrm>
            <a:off x="393192" y="5769864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b="1" dirty="0">
                <a:solidFill>
                  <a:srgbClr val="9B87F5"/>
                </a:solidFill>
              </a:rPr>
              <a:t>BUILD</a:t>
            </a:r>
            <a:endParaRPr lang="en-US" sz="620" dirty="0"/>
          </a:p>
        </p:txBody>
      </p:sp>
      <p:sp>
        <p:nvSpPr>
          <p:cNvPr id="60" name="Text 58"/>
          <p:cNvSpPr/>
          <p:nvPr/>
        </p:nvSpPr>
        <p:spPr>
          <a:xfrm>
            <a:off x="896112" y="574243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F8FBFF"/>
                </a:solidFill>
              </a:rPr>
              <a:t>Command Center</a:t>
            </a:r>
            <a:endParaRPr lang="en-US" sz="760" dirty="0"/>
          </a:p>
        </p:txBody>
      </p:sp>
      <p:sp>
        <p:nvSpPr>
          <p:cNvPr id="61" name="Shape 59">
            <a:hlinkClick r:id="rId4" action="ppaction://hlinksldjump"/>
          </p:cNvPr>
          <p:cNvSpPr/>
          <p:nvPr/>
        </p:nvSpPr>
        <p:spPr>
          <a:xfrm>
            <a:off x="8132341" y="5751576"/>
            <a:ext cx="923544" cy="228600"/>
          </a:xfrm>
          <a:prstGeom prst="roundRect">
            <a:avLst>
              <a:gd name="adj" fmla="val 20000"/>
            </a:avLst>
          </a:prstGeom>
          <a:solidFill>
            <a:srgbClr val="9B87F5"/>
          </a:solidFill>
          <a:ln w="12700">
            <a:solidFill>
              <a:srgbClr val="9B8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8187205" y="5811012"/>
            <a:ext cx="8138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40" b="1" dirty="0">
                <a:solidFill>
                  <a:srgbClr val="071326"/>
                </a:solidFill>
              </a:rPr>
              <a:t>VBA</a:t>
            </a:r>
            <a:endParaRPr lang="en-US" sz="640" dirty="0"/>
          </a:p>
        </p:txBody>
      </p:sp>
      <p:sp>
        <p:nvSpPr>
          <p:cNvPr id="63" name="Text 61"/>
          <p:cNvSpPr/>
          <p:nvPr/>
        </p:nvSpPr>
        <p:spPr>
          <a:xfrm>
            <a:off x="393192" y="6227064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b="1" dirty="0">
                <a:solidFill>
                  <a:srgbClr val="12C2E9"/>
                </a:solidFill>
              </a:rPr>
              <a:t>BUILD</a:t>
            </a:r>
            <a:endParaRPr lang="en-US" sz="620" dirty="0"/>
          </a:p>
        </p:txBody>
      </p:sp>
      <p:sp>
        <p:nvSpPr>
          <p:cNvPr id="64" name="Text 62"/>
          <p:cNvSpPr/>
          <p:nvPr/>
        </p:nvSpPr>
        <p:spPr>
          <a:xfrm>
            <a:off x="896112" y="619963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F8FBFF"/>
                </a:solidFill>
              </a:rPr>
              <a:t>ECSIP</a:t>
            </a:r>
            <a:endParaRPr lang="en-US" sz="760" dirty="0"/>
          </a:p>
        </p:txBody>
      </p:sp>
      <p:sp>
        <p:nvSpPr>
          <p:cNvPr id="65" name="Shape 63">
            <a:hlinkClick r:id="rId4" action="ppaction://hlinksldjump"/>
          </p:cNvPr>
          <p:cNvSpPr/>
          <p:nvPr/>
        </p:nvSpPr>
        <p:spPr>
          <a:xfrm>
            <a:off x="9139844" y="6208776"/>
            <a:ext cx="1049482" cy="228600"/>
          </a:xfrm>
          <a:prstGeom prst="roundRect">
            <a:avLst>
              <a:gd name="adj" fmla="val 20000"/>
            </a:avLst>
          </a:prstGeom>
          <a:solidFill>
            <a:srgbClr val="12C2E9"/>
          </a:solidFill>
          <a:ln w="12700">
            <a:solidFill>
              <a:srgbClr val="12C2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9194708" y="6268212"/>
            <a:ext cx="93975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40" b="1" dirty="0">
                <a:solidFill>
                  <a:srgbClr val="071326"/>
                </a:solidFill>
              </a:rPr>
              <a:t>Power Platform</a:t>
            </a:r>
            <a:endParaRPr lang="en-US" sz="640" dirty="0"/>
          </a:p>
        </p:txBody>
      </p:sp>
      <p:sp>
        <p:nvSpPr>
          <p:cNvPr id="67" name="Text 65"/>
          <p:cNvSpPr/>
          <p:nvPr/>
        </p:nvSpPr>
        <p:spPr>
          <a:xfrm>
            <a:off x="393192" y="6684264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b="1" dirty="0">
                <a:solidFill>
                  <a:srgbClr val="A3E635"/>
                </a:solidFill>
              </a:rPr>
              <a:t>BUILD</a:t>
            </a:r>
            <a:endParaRPr lang="en-US" sz="620" dirty="0"/>
          </a:p>
        </p:txBody>
      </p:sp>
      <p:sp>
        <p:nvSpPr>
          <p:cNvPr id="68" name="Text 66"/>
          <p:cNvSpPr/>
          <p:nvPr/>
        </p:nvSpPr>
        <p:spPr>
          <a:xfrm>
            <a:off x="896112" y="665683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F8FBFF"/>
                </a:solidFill>
              </a:rPr>
              <a:t>Multi-Agent Intelligence</a:t>
            </a:r>
            <a:endParaRPr lang="en-US" sz="760" dirty="0"/>
          </a:p>
        </p:txBody>
      </p:sp>
      <p:sp>
        <p:nvSpPr>
          <p:cNvPr id="69" name="Shape 67">
            <a:hlinkClick r:id="rId4" action="ppaction://hlinksldjump"/>
          </p:cNvPr>
          <p:cNvSpPr/>
          <p:nvPr/>
        </p:nvSpPr>
        <p:spPr>
          <a:xfrm>
            <a:off x="10567139" y="6665976"/>
            <a:ext cx="923544" cy="228600"/>
          </a:xfrm>
          <a:prstGeom prst="roundRect">
            <a:avLst>
              <a:gd name="adj" fmla="val 20000"/>
            </a:avLst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10622003" y="6725412"/>
            <a:ext cx="8138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40" b="1" dirty="0">
                <a:solidFill>
                  <a:srgbClr val="071326"/>
                </a:solidFill>
              </a:rPr>
              <a:t>5+ agents</a:t>
            </a:r>
            <a:endParaRPr lang="en-US" sz="640" dirty="0"/>
          </a:p>
        </p:txBody>
      </p:sp>
      <p:sp>
        <p:nvSpPr>
          <p:cNvPr id="71" name="Shape 69"/>
          <p:cNvSpPr/>
          <p:nvPr/>
        </p:nvSpPr>
        <p:spPr>
          <a:xfrm>
            <a:off x="11423516" y="1691640"/>
            <a:ext cx="1" cy="3950208"/>
          </a:xfrm>
          <a:prstGeom prst="line">
            <a:avLst/>
          </a:prstGeom>
          <a:noFill/>
          <a:ln w="22860">
            <a:solidFill>
              <a:srgbClr val="FF5B7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11240636" y="559612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5B7F"/>
                </a:solidFill>
              </a:rPr>
              <a:t>NOW</a:t>
            </a:r>
            <a:endParaRPr lang="en-US" sz="700" dirty="0"/>
          </a:p>
        </p:txBody>
      </p:sp>
      <p:sp>
        <p:nvSpPr>
          <p:cNvPr id="73" name="Shape 71">
            <a:hlinkClick r:id="rId5" action="ppaction://hlinksldjump"/>
          </p:cNvPr>
          <p:cNvSpPr/>
          <p:nvPr/>
        </p:nvSpPr>
        <p:spPr>
          <a:xfrm>
            <a:off x="384048" y="6053328"/>
            <a:ext cx="1024128" cy="320040"/>
          </a:xfrm>
          <a:prstGeom prst="roundRect">
            <a:avLst>
              <a:gd name="adj" fmla="val 28571"/>
            </a:avLst>
          </a:prstGeom>
          <a:solidFill>
            <a:srgbClr val="102A50">
              <a:alpha val="94000"/>
            </a:srgbClr>
          </a:solidFill>
          <a:ln w="12700">
            <a:solidFill>
              <a:srgbClr val="102A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438912" y="6135624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8FBFF"/>
                </a:solidFill>
              </a:rPr>
              <a:t>HOME</a:t>
            </a:r>
            <a:endParaRPr lang="en-US" sz="820" dirty="0"/>
          </a:p>
        </p:txBody>
      </p:sp>
      <p:sp>
        <p:nvSpPr>
          <p:cNvPr id="75" name="Text 73">
            <a:hlinkClick r:id="rId5" action="ppaction://hlinksldjump"/>
          </p:cNvPr>
          <p:cNvSpPr/>
          <p:nvPr/>
        </p:nvSpPr>
        <p:spPr>
          <a:xfrm>
            <a:off x="384048" y="6053328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6" name="Shape 74">
            <a:hlinkClick r:id="rId6" action="ppaction://hlinksldjump"/>
          </p:cNvPr>
          <p:cNvSpPr/>
          <p:nvPr/>
        </p:nvSpPr>
        <p:spPr>
          <a:xfrm>
            <a:off x="1554480" y="6053328"/>
            <a:ext cx="1024128" cy="320040"/>
          </a:xfrm>
          <a:prstGeom prst="roundRect">
            <a:avLst>
              <a:gd name="adj" fmla="val 28571"/>
            </a:avLst>
          </a:prstGeom>
          <a:solidFill>
            <a:srgbClr val="12C2E9">
              <a:alpha val="94000"/>
            </a:srgbClr>
          </a:solidFill>
          <a:ln w="12700">
            <a:solidFill>
              <a:srgbClr val="12C2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1609344" y="6135624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8FBFF"/>
                </a:solidFill>
              </a:rPr>
              <a:t>TIMELINE</a:t>
            </a:r>
            <a:endParaRPr lang="en-US" sz="820" dirty="0"/>
          </a:p>
        </p:txBody>
      </p:sp>
      <p:sp>
        <p:nvSpPr>
          <p:cNvPr id="78" name="Text 76">
            <a:hlinkClick r:id="rId6" action="ppaction://hlinksldjump"/>
          </p:cNvPr>
          <p:cNvSpPr/>
          <p:nvPr/>
        </p:nvSpPr>
        <p:spPr>
          <a:xfrm>
            <a:off x="1554480" y="6053328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9" name="Shape 77">
            <a:hlinkClick r:id="rId3" action="ppaction://hlinksldjump"/>
          </p:cNvPr>
          <p:cNvSpPr/>
          <p:nvPr/>
        </p:nvSpPr>
        <p:spPr>
          <a:xfrm>
            <a:off x="2724912" y="6053328"/>
            <a:ext cx="1024128" cy="320040"/>
          </a:xfrm>
          <a:prstGeom prst="roundRect">
            <a:avLst>
              <a:gd name="adj" fmla="val 28571"/>
            </a:avLst>
          </a:prstGeom>
          <a:solidFill>
            <a:srgbClr val="102A50">
              <a:alpha val="94000"/>
            </a:srgbClr>
          </a:solidFill>
          <a:ln w="12700">
            <a:solidFill>
              <a:srgbClr val="102A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2779776" y="6135624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8FBFF"/>
                </a:solidFill>
              </a:rPr>
              <a:t>IMPACT</a:t>
            </a:r>
            <a:endParaRPr lang="en-US" sz="820" dirty="0"/>
          </a:p>
        </p:txBody>
      </p:sp>
      <p:sp>
        <p:nvSpPr>
          <p:cNvPr id="81" name="Text 79">
            <a:hlinkClick r:id="rId3" action="ppaction://hlinksldjump"/>
          </p:cNvPr>
          <p:cNvSpPr/>
          <p:nvPr/>
        </p:nvSpPr>
        <p:spPr>
          <a:xfrm>
            <a:off x="2724912" y="6053328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2" name="Shape 80">
            <a:hlinkClick r:id="rId4" action="ppaction://hlinksldjump"/>
          </p:cNvPr>
          <p:cNvSpPr/>
          <p:nvPr/>
        </p:nvSpPr>
        <p:spPr>
          <a:xfrm>
            <a:off x="3895344" y="6053328"/>
            <a:ext cx="1024128" cy="320040"/>
          </a:xfrm>
          <a:prstGeom prst="roundRect">
            <a:avLst>
              <a:gd name="adj" fmla="val 28571"/>
            </a:avLst>
          </a:prstGeom>
          <a:solidFill>
            <a:srgbClr val="102A50">
              <a:alpha val="94000"/>
            </a:srgbClr>
          </a:solidFill>
          <a:ln w="12700">
            <a:solidFill>
              <a:srgbClr val="102A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Text 81"/>
          <p:cNvSpPr/>
          <p:nvPr/>
        </p:nvSpPr>
        <p:spPr>
          <a:xfrm>
            <a:off x="3950208" y="6135624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8FBFF"/>
                </a:solidFill>
              </a:rPr>
              <a:t>PROJECTS</a:t>
            </a:r>
            <a:endParaRPr lang="en-US" sz="820" dirty="0"/>
          </a:p>
        </p:txBody>
      </p:sp>
      <p:sp>
        <p:nvSpPr>
          <p:cNvPr id="84" name="Text 82">
            <a:hlinkClick r:id="rId4" action="ppaction://hlinksldjump"/>
          </p:cNvPr>
          <p:cNvSpPr/>
          <p:nvPr/>
        </p:nvSpPr>
        <p:spPr>
          <a:xfrm>
            <a:off x="3895344" y="6053328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5" name="Shape 83">
            <a:hlinkClick r:id="rId7" action="ppaction://hlinksldjump"/>
          </p:cNvPr>
          <p:cNvSpPr/>
          <p:nvPr/>
        </p:nvSpPr>
        <p:spPr>
          <a:xfrm>
            <a:off x="5065776" y="6053328"/>
            <a:ext cx="1024128" cy="320040"/>
          </a:xfrm>
          <a:prstGeom prst="roundRect">
            <a:avLst>
              <a:gd name="adj" fmla="val 28571"/>
            </a:avLst>
          </a:prstGeom>
          <a:solidFill>
            <a:srgbClr val="102A50">
              <a:alpha val="94000"/>
            </a:srgbClr>
          </a:solidFill>
          <a:ln w="12700">
            <a:solidFill>
              <a:srgbClr val="102A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4"/>
          <p:cNvSpPr/>
          <p:nvPr/>
        </p:nvSpPr>
        <p:spPr>
          <a:xfrm>
            <a:off x="5120640" y="6135624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8FBFF"/>
                </a:solidFill>
              </a:rPr>
              <a:t>SKILLS</a:t>
            </a:r>
            <a:endParaRPr lang="en-US" sz="820" dirty="0"/>
          </a:p>
        </p:txBody>
      </p:sp>
      <p:sp>
        <p:nvSpPr>
          <p:cNvPr id="87" name="Text 85">
            <a:hlinkClick r:id="rId7" action="ppaction://hlinksldjump"/>
          </p:cNvPr>
          <p:cNvSpPr/>
          <p:nvPr/>
        </p:nvSpPr>
        <p:spPr>
          <a:xfrm>
            <a:off x="5065776" y="6053328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8" name="Shape 86">
            <a:hlinkClick r:id="rId8" action="ppaction://hlinksldjump"/>
          </p:cNvPr>
          <p:cNvSpPr/>
          <p:nvPr/>
        </p:nvSpPr>
        <p:spPr>
          <a:xfrm>
            <a:off x="6236208" y="6053328"/>
            <a:ext cx="1024128" cy="320040"/>
          </a:xfrm>
          <a:prstGeom prst="roundRect">
            <a:avLst>
              <a:gd name="adj" fmla="val 28571"/>
            </a:avLst>
          </a:prstGeom>
          <a:solidFill>
            <a:srgbClr val="102A50">
              <a:alpha val="94000"/>
            </a:srgbClr>
          </a:solidFill>
          <a:ln w="12700">
            <a:solidFill>
              <a:srgbClr val="102A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9" name="Text 87"/>
          <p:cNvSpPr/>
          <p:nvPr/>
        </p:nvSpPr>
        <p:spPr>
          <a:xfrm>
            <a:off x="6291072" y="6135624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8FBFF"/>
                </a:solidFill>
              </a:rPr>
              <a:t>MODEL</a:t>
            </a:r>
            <a:endParaRPr lang="en-US" sz="820" dirty="0"/>
          </a:p>
        </p:txBody>
      </p:sp>
      <p:sp>
        <p:nvSpPr>
          <p:cNvPr id="90" name="Text 88">
            <a:hlinkClick r:id="rId8" action="ppaction://hlinksldjump"/>
          </p:cNvPr>
          <p:cNvSpPr/>
          <p:nvPr/>
        </p:nvSpPr>
        <p:spPr>
          <a:xfrm>
            <a:off x="6236208" y="6053328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601968"/>
            <a:ext cx="219456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A9B8C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384048" y="5303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2C2E9"/>
                </a:solidFill>
              </a:rPr>
              <a:t>02 • IMPACT COCKPIT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84048" y="822960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FBFF"/>
                </a:solidFill>
              </a:rPr>
              <a:t>The numbers are not decoration. They are evidence of operating leverage.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84048" y="135331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A9B8CE"/>
                </a:solidFill>
              </a:rPr>
              <a:t>Click each metric to reveal the capability behind the result.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8912" y="1874520"/>
            <a:ext cx="3401568" cy="1234440"/>
          </a:xfrm>
          <a:prstGeom prst="roundRect">
            <a:avLst>
              <a:gd name="adj" fmla="val 5926"/>
            </a:avLst>
          </a:prstGeom>
          <a:solidFill>
            <a:srgbClr val="0D2140"/>
          </a:solidFill>
          <a:ln w="12700">
            <a:solidFill>
              <a:srgbClr val="A3E635"/>
            </a:solidFill>
            <a:prstDash val="solid"/>
          </a:ln>
          <a:effectLst>
            <a:outerShdw blurRad="1524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A3E635"/>
                </a:solidFill>
              </a:rPr>
              <a:t>150+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700784" y="2084832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8FBFF"/>
                </a:solidFill>
              </a:rPr>
              <a:t>initiatives delivered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679192"/>
            <a:ext cx="2761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A9B8CE"/>
                </a:solidFill>
              </a:rPr>
              <a:t>Transformation delivery</a:t>
            </a:r>
            <a:endParaRPr lang="en-US" sz="850" dirty="0"/>
          </a:p>
        </p:txBody>
      </p:sp>
      <p:sp>
        <p:nvSpPr>
          <p:cNvPr id="9" name="Shape 7">
            <a:hlinkClick r:id="rId3" action="ppaction://hlinksldjump"/>
          </p:cNvPr>
          <p:cNvSpPr/>
          <p:nvPr/>
        </p:nvSpPr>
        <p:spPr>
          <a:xfrm>
            <a:off x="3419856" y="2679192"/>
            <a:ext cx="201168" cy="201168"/>
          </a:xfrm>
          <a:prstGeom prst="chevron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261104" y="1874520"/>
            <a:ext cx="3401568" cy="1234440"/>
          </a:xfrm>
          <a:prstGeom prst="roundRect">
            <a:avLst>
              <a:gd name="adj" fmla="val 5926"/>
            </a:avLst>
          </a:prstGeom>
          <a:solidFill>
            <a:srgbClr val="0D2140"/>
          </a:solidFill>
          <a:ln w="12700">
            <a:solidFill>
              <a:srgbClr val="FF5B7F"/>
            </a:solidFill>
            <a:prstDash val="solid"/>
          </a:ln>
          <a:effectLst>
            <a:outerShdw blurRad="1524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462272" y="205740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5B7F"/>
                </a:solidFill>
              </a:rPr>
              <a:t>30+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5522976" y="2084832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8FBFF"/>
                </a:solidFill>
              </a:rPr>
              <a:t>priority escalations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62272" y="2679192"/>
            <a:ext cx="2761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A9B8CE"/>
                </a:solidFill>
              </a:rPr>
              <a:t>Cross-functional leadership</a:t>
            </a:r>
            <a:endParaRPr lang="en-US" sz="850" dirty="0"/>
          </a:p>
        </p:txBody>
      </p:sp>
      <p:sp>
        <p:nvSpPr>
          <p:cNvPr id="14" name="Shape 12">
            <a:hlinkClick r:id="rId3" action="ppaction://hlinksldjump"/>
          </p:cNvPr>
          <p:cNvSpPr/>
          <p:nvPr/>
        </p:nvSpPr>
        <p:spPr>
          <a:xfrm>
            <a:off x="7242048" y="2679192"/>
            <a:ext cx="201168" cy="201168"/>
          </a:xfrm>
          <a:prstGeom prst="chevron">
            <a:avLst/>
          </a:prstGeom>
          <a:solidFill>
            <a:srgbClr val="FF5B7F"/>
          </a:solidFill>
          <a:ln w="12700">
            <a:solidFill>
              <a:srgbClr val="FF5B7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083296" y="1874520"/>
            <a:ext cx="3401568" cy="1234440"/>
          </a:xfrm>
          <a:prstGeom prst="roundRect">
            <a:avLst>
              <a:gd name="adj" fmla="val 5926"/>
            </a:avLst>
          </a:prstGeom>
          <a:solidFill>
            <a:srgbClr val="0D2140"/>
          </a:solidFill>
          <a:ln w="12700">
            <a:solidFill>
              <a:srgbClr val="12C2E9"/>
            </a:solidFill>
            <a:prstDash val="solid"/>
          </a:ln>
          <a:effectLst>
            <a:outerShdw blurRad="1524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284464" y="205740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C2E9"/>
                </a:solidFill>
              </a:rPr>
              <a:t>20+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9345168" y="2084832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8FBFF"/>
                </a:solidFill>
              </a:rPr>
              <a:t>global banking clients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84464" y="2679192"/>
            <a:ext cx="2761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A9B8CE"/>
                </a:solidFill>
              </a:rPr>
              <a:t>Portfolio ownership</a:t>
            </a:r>
            <a:endParaRPr lang="en-US" sz="850" dirty="0"/>
          </a:p>
        </p:txBody>
      </p:sp>
      <p:sp>
        <p:nvSpPr>
          <p:cNvPr id="19" name="Shape 17">
            <a:hlinkClick r:id="rId3" action="ppaction://hlinksldjump"/>
          </p:cNvPr>
          <p:cNvSpPr/>
          <p:nvPr/>
        </p:nvSpPr>
        <p:spPr>
          <a:xfrm>
            <a:off x="11064240" y="2679192"/>
            <a:ext cx="201168" cy="201168"/>
          </a:xfrm>
          <a:prstGeom prst="chevron">
            <a:avLst/>
          </a:prstGeom>
          <a:solidFill>
            <a:srgbClr val="12C2E9"/>
          </a:solidFill>
          <a:ln w="12700">
            <a:solidFill>
              <a:srgbClr val="12C2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38912" y="3474720"/>
            <a:ext cx="3401568" cy="1234440"/>
          </a:xfrm>
          <a:prstGeom prst="roundRect">
            <a:avLst>
              <a:gd name="adj" fmla="val 5926"/>
            </a:avLst>
          </a:prstGeom>
          <a:solidFill>
            <a:srgbClr val="0D2140"/>
          </a:solidFill>
          <a:ln w="12700">
            <a:solidFill>
              <a:srgbClr val="FF9F43"/>
            </a:solidFill>
            <a:prstDash val="solid"/>
          </a:ln>
          <a:effectLst>
            <a:outerShdw blurRad="1524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0080" y="365760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9F43"/>
                </a:solidFill>
              </a:rPr>
              <a:t>80%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1700784" y="3685032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8FBFF"/>
                </a:solidFill>
              </a:rPr>
              <a:t>manual effort reduced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4279392"/>
            <a:ext cx="2761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A9B8CE"/>
                </a:solidFill>
              </a:rPr>
              <a:t>Automation mindset</a:t>
            </a:r>
            <a:endParaRPr lang="en-US" sz="850" dirty="0"/>
          </a:p>
        </p:txBody>
      </p:sp>
      <p:sp>
        <p:nvSpPr>
          <p:cNvPr id="24" name="Shape 22">
            <a:hlinkClick r:id="rId4" action="ppaction://hlinksldjump"/>
          </p:cNvPr>
          <p:cNvSpPr/>
          <p:nvPr/>
        </p:nvSpPr>
        <p:spPr>
          <a:xfrm>
            <a:off x="3419856" y="4279392"/>
            <a:ext cx="201168" cy="201168"/>
          </a:xfrm>
          <a:prstGeom prst="chevron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261104" y="3474720"/>
            <a:ext cx="3401568" cy="1234440"/>
          </a:xfrm>
          <a:prstGeom prst="roundRect">
            <a:avLst>
              <a:gd name="adj" fmla="val 5926"/>
            </a:avLst>
          </a:prstGeom>
          <a:solidFill>
            <a:srgbClr val="0D2140"/>
          </a:solidFill>
          <a:ln w="12700">
            <a:solidFill>
              <a:srgbClr val="9B87F5"/>
            </a:solidFill>
            <a:prstDash val="solid"/>
          </a:ln>
          <a:effectLst>
            <a:outerShdw blurRad="1524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462272" y="365760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9B87F5"/>
                </a:solidFill>
              </a:rPr>
              <a:t>70%+</a:t>
            </a:r>
            <a:endParaRPr lang="en-US" sz="2500" dirty="0"/>
          </a:p>
        </p:txBody>
      </p:sp>
      <p:sp>
        <p:nvSpPr>
          <p:cNvPr id="27" name="Text 25"/>
          <p:cNvSpPr/>
          <p:nvPr/>
        </p:nvSpPr>
        <p:spPr>
          <a:xfrm>
            <a:off x="5522976" y="3685032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8FBFF"/>
                </a:solidFill>
              </a:rPr>
              <a:t>reporting effort reduced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462272" y="4279392"/>
            <a:ext cx="2761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A9B8CE"/>
                </a:solidFill>
              </a:rPr>
              <a:t>Operational intelligence</a:t>
            </a:r>
            <a:endParaRPr lang="en-US" sz="850" dirty="0"/>
          </a:p>
        </p:txBody>
      </p:sp>
      <p:sp>
        <p:nvSpPr>
          <p:cNvPr id="29" name="Shape 27">
            <a:hlinkClick r:id="rId4" action="ppaction://hlinksldjump"/>
          </p:cNvPr>
          <p:cNvSpPr/>
          <p:nvPr/>
        </p:nvSpPr>
        <p:spPr>
          <a:xfrm>
            <a:off x="7242048" y="4279392"/>
            <a:ext cx="201168" cy="201168"/>
          </a:xfrm>
          <a:prstGeom prst="chevron">
            <a:avLst/>
          </a:prstGeom>
          <a:solidFill>
            <a:srgbClr val="9B87F5"/>
          </a:solidFill>
          <a:ln w="12700">
            <a:solidFill>
              <a:srgbClr val="9B8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083296" y="3474720"/>
            <a:ext cx="3401568" cy="1234440"/>
          </a:xfrm>
          <a:prstGeom prst="roundRect">
            <a:avLst>
              <a:gd name="adj" fmla="val 5926"/>
            </a:avLst>
          </a:prstGeom>
          <a:solidFill>
            <a:srgbClr val="0D2140"/>
          </a:solidFill>
          <a:ln w="12700">
            <a:solidFill>
              <a:srgbClr val="2F80ED"/>
            </a:solidFill>
            <a:prstDash val="solid"/>
          </a:ln>
          <a:effectLst>
            <a:outerShdw blurRad="1524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284464" y="365760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F80ED"/>
                </a:solidFill>
              </a:rPr>
              <a:t>15+</a:t>
            </a:r>
            <a:endParaRPr lang="en-US" sz="2500" dirty="0"/>
          </a:p>
        </p:txBody>
      </p:sp>
      <p:sp>
        <p:nvSpPr>
          <p:cNvPr id="32" name="Text 30"/>
          <p:cNvSpPr/>
          <p:nvPr/>
        </p:nvSpPr>
        <p:spPr>
          <a:xfrm>
            <a:off x="9345168" y="3685032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8FBFF"/>
                </a:solidFill>
              </a:rPr>
              <a:t>business stakeholders trained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284464" y="4279392"/>
            <a:ext cx="2761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A9B8CE"/>
                </a:solidFill>
              </a:rPr>
              <a:t>International enablement</a:t>
            </a:r>
            <a:endParaRPr lang="en-US" sz="850" dirty="0"/>
          </a:p>
        </p:txBody>
      </p:sp>
      <p:sp>
        <p:nvSpPr>
          <p:cNvPr id="34" name="Shape 32">
            <a:hlinkClick r:id="rId3" action="ppaction://hlinksldjump"/>
          </p:cNvPr>
          <p:cNvSpPr/>
          <p:nvPr/>
        </p:nvSpPr>
        <p:spPr>
          <a:xfrm>
            <a:off x="11064240" y="4279392"/>
            <a:ext cx="201168" cy="201168"/>
          </a:xfrm>
          <a:prstGeom prst="chevron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>
            <a:hlinkClick r:id="rId5" action="ppaction://hlinksldjump"/>
          </p:cNvPr>
          <p:cNvSpPr/>
          <p:nvPr/>
        </p:nvSpPr>
        <p:spPr>
          <a:xfrm>
            <a:off x="384048" y="6053328"/>
            <a:ext cx="1024128" cy="320040"/>
          </a:xfrm>
          <a:prstGeom prst="roundRect">
            <a:avLst>
              <a:gd name="adj" fmla="val 28571"/>
            </a:avLst>
          </a:prstGeom>
          <a:solidFill>
            <a:srgbClr val="102A50">
              <a:alpha val="94000"/>
            </a:srgbClr>
          </a:solidFill>
          <a:ln w="12700">
            <a:solidFill>
              <a:srgbClr val="102A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38912" y="6135624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8FBFF"/>
                </a:solidFill>
              </a:rPr>
              <a:t>HOME</a:t>
            </a:r>
            <a:endParaRPr lang="en-US" sz="820" dirty="0"/>
          </a:p>
        </p:txBody>
      </p:sp>
      <p:sp>
        <p:nvSpPr>
          <p:cNvPr id="37" name="Text 35">
            <a:hlinkClick r:id="rId5" action="ppaction://hlinksldjump"/>
          </p:cNvPr>
          <p:cNvSpPr/>
          <p:nvPr/>
        </p:nvSpPr>
        <p:spPr>
          <a:xfrm>
            <a:off x="384048" y="6053328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6">
            <a:hlinkClick r:id="rId6" action="ppaction://hlinksldjump"/>
          </p:cNvPr>
          <p:cNvSpPr/>
          <p:nvPr/>
        </p:nvSpPr>
        <p:spPr>
          <a:xfrm>
            <a:off x="1554480" y="6053328"/>
            <a:ext cx="1024128" cy="320040"/>
          </a:xfrm>
          <a:prstGeom prst="roundRect">
            <a:avLst>
              <a:gd name="adj" fmla="val 28571"/>
            </a:avLst>
          </a:prstGeom>
          <a:solidFill>
            <a:srgbClr val="102A50">
              <a:alpha val="94000"/>
            </a:srgbClr>
          </a:solidFill>
          <a:ln w="12700">
            <a:solidFill>
              <a:srgbClr val="102A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1609344" y="6135624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8FBFF"/>
                </a:solidFill>
              </a:rPr>
              <a:t>TIMELINE</a:t>
            </a:r>
            <a:endParaRPr lang="en-US" sz="820" dirty="0"/>
          </a:p>
        </p:txBody>
      </p:sp>
      <p:sp>
        <p:nvSpPr>
          <p:cNvPr id="40" name="Text 38">
            <a:hlinkClick r:id="rId6" action="ppaction://hlinksldjump"/>
          </p:cNvPr>
          <p:cNvSpPr/>
          <p:nvPr/>
        </p:nvSpPr>
        <p:spPr>
          <a:xfrm>
            <a:off x="1554480" y="6053328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Shape 39">
            <a:hlinkClick r:id="rId7" action="ppaction://hlinksldjump"/>
          </p:cNvPr>
          <p:cNvSpPr/>
          <p:nvPr/>
        </p:nvSpPr>
        <p:spPr>
          <a:xfrm>
            <a:off x="2724912" y="6053328"/>
            <a:ext cx="1024128" cy="320040"/>
          </a:xfrm>
          <a:prstGeom prst="roundRect">
            <a:avLst>
              <a:gd name="adj" fmla="val 28571"/>
            </a:avLst>
          </a:prstGeom>
          <a:solidFill>
            <a:srgbClr val="12C2E9">
              <a:alpha val="94000"/>
            </a:srgbClr>
          </a:solidFill>
          <a:ln w="12700">
            <a:solidFill>
              <a:srgbClr val="12C2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2779776" y="6135624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8FBFF"/>
                </a:solidFill>
              </a:rPr>
              <a:t>IMPACT</a:t>
            </a:r>
            <a:endParaRPr lang="en-US" sz="820" dirty="0"/>
          </a:p>
        </p:txBody>
      </p:sp>
      <p:sp>
        <p:nvSpPr>
          <p:cNvPr id="43" name="Text 41">
            <a:hlinkClick r:id="rId7" action="ppaction://hlinksldjump"/>
          </p:cNvPr>
          <p:cNvSpPr/>
          <p:nvPr/>
        </p:nvSpPr>
        <p:spPr>
          <a:xfrm>
            <a:off x="2724912" y="6053328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Shape 42">
            <a:hlinkClick r:id="rId4" action="ppaction://hlinksldjump"/>
          </p:cNvPr>
          <p:cNvSpPr/>
          <p:nvPr/>
        </p:nvSpPr>
        <p:spPr>
          <a:xfrm>
            <a:off x="3895344" y="6053328"/>
            <a:ext cx="1024128" cy="320040"/>
          </a:xfrm>
          <a:prstGeom prst="roundRect">
            <a:avLst>
              <a:gd name="adj" fmla="val 28571"/>
            </a:avLst>
          </a:prstGeom>
          <a:solidFill>
            <a:srgbClr val="102A50">
              <a:alpha val="94000"/>
            </a:srgbClr>
          </a:solidFill>
          <a:ln w="12700">
            <a:solidFill>
              <a:srgbClr val="102A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3950208" y="6135624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8FBFF"/>
                </a:solidFill>
              </a:rPr>
              <a:t>PROJECTS</a:t>
            </a:r>
            <a:endParaRPr lang="en-US" sz="820" dirty="0"/>
          </a:p>
        </p:txBody>
      </p:sp>
      <p:sp>
        <p:nvSpPr>
          <p:cNvPr id="46" name="Text 44">
            <a:hlinkClick r:id="rId4" action="ppaction://hlinksldjump"/>
          </p:cNvPr>
          <p:cNvSpPr/>
          <p:nvPr/>
        </p:nvSpPr>
        <p:spPr>
          <a:xfrm>
            <a:off x="3895344" y="6053328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Shape 45">
            <a:hlinkClick r:id="rId3" action="ppaction://hlinksldjump"/>
          </p:cNvPr>
          <p:cNvSpPr/>
          <p:nvPr/>
        </p:nvSpPr>
        <p:spPr>
          <a:xfrm>
            <a:off x="5065776" y="6053328"/>
            <a:ext cx="1024128" cy="320040"/>
          </a:xfrm>
          <a:prstGeom prst="roundRect">
            <a:avLst>
              <a:gd name="adj" fmla="val 28571"/>
            </a:avLst>
          </a:prstGeom>
          <a:solidFill>
            <a:srgbClr val="102A50">
              <a:alpha val="94000"/>
            </a:srgbClr>
          </a:solidFill>
          <a:ln w="12700">
            <a:solidFill>
              <a:srgbClr val="102A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5120640" y="6135624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8FBFF"/>
                </a:solidFill>
              </a:rPr>
              <a:t>SKILLS</a:t>
            </a:r>
            <a:endParaRPr lang="en-US" sz="820" dirty="0"/>
          </a:p>
        </p:txBody>
      </p:sp>
      <p:sp>
        <p:nvSpPr>
          <p:cNvPr id="49" name="Text 47">
            <a:hlinkClick r:id="rId3" action="ppaction://hlinksldjump"/>
          </p:cNvPr>
          <p:cNvSpPr/>
          <p:nvPr/>
        </p:nvSpPr>
        <p:spPr>
          <a:xfrm>
            <a:off x="5065776" y="6053328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Shape 48">
            <a:hlinkClick r:id="rId8" action="ppaction://hlinksldjump"/>
          </p:cNvPr>
          <p:cNvSpPr/>
          <p:nvPr/>
        </p:nvSpPr>
        <p:spPr>
          <a:xfrm>
            <a:off x="6236208" y="6053328"/>
            <a:ext cx="1024128" cy="320040"/>
          </a:xfrm>
          <a:prstGeom prst="roundRect">
            <a:avLst>
              <a:gd name="adj" fmla="val 28571"/>
            </a:avLst>
          </a:prstGeom>
          <a:solidFill>
            <a:srgbClr val="102A50">
              <a:alpha val="94000"/>
            </a:srgbClr>
          </a:solidFill>
          <a:ln w="12700">
            <a:solidFill>
              <a:srgbClr val="102A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6291072" y="6135624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8FBFF"/>
                </a:solidFill>
              </a:rPr>
              <a:t>MODEL</a:t>
            </a:r>
            <a:endParaRPr lang="en-US" sz="820" dirty="0"/>
          </a:p>
        </p:txBody>
      </p:sp>
      <p:sp>
        <p:nvSpPr>
          <p:cNvPr id="52" name="Text 50">
            <a:hlinkClick r:id="rId8" action="ppaction://hlinksldjump"/>
          </p:cNvPr>
          <p:cNvSpPr/>
          <p:nvPr/>
        </p:nvSpPr>
        <p:spPr>
          <a:xfrm>
            <a:off x="6236208" y="6053328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601968"/>
            <a:ext cx="219456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A9B8C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384048" y="5303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2C2E9"/>
                </a:solidFill>
              </a:rPr>
              <a:t>03 • PROJECT CONSTELLATION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84048" y="822960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FBFF"/>
                </a:solidFill>
              </a:rPr>
              <a:t>Three builds. One pattern: detect friction, design the system, create leverage.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84048" y="135331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A9B8CE"/>
                </a:solidFill>
              </a:rPr>
              <a:t>Use the project cards as navigation tiles. The workflow below is a fully editable flowchart.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847088"/>
            <a:ext cx="3429000" cy="1307592"/>
          </a:xfrm>
          <a:prstGeom prst="roundRect">
            <a:avLst>
              <a:gd name="adj" fmla="val 5594"/>
            </a:avLst>
          </a:prstGeom>
          <a:solidFill>
            <a:srgbClr val="0D2140"/>
          </a:solidFill>
          <a:ln w="12700">
            <a:solidFill>
              <a:srgbClr val="9B87F5"/>
            </a:solidFill>
            <a:prstDash val="solid"/>
          </a:ln>
          <a:effectLst>
            <a:outerShdw blurRad="1524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B87F5"/>
                </a:solidFill>
              </a:rPr>
              <a:t>OCT 2025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8FBFF"/>
                </a:solidFill>
              </a:rPr>
              <a:t>Client Communications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F8FBFF"/>
                </a:solidFill>
              </a:rPr>
              <a:t>Command Center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76148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A9B8CE"/>
                </a:solidFill>
              </a:rPr>
              <a:t>Excel VBA • Outlook • dashboards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640080" y="299008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B87F5"/>
                </a:solidFill>
              </a:rPr>
              <a:t>80% manual effort reduced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97680" y="1847088"/>
            <a:ext cx="3429000" cy="1307592"/>
          </a:xfrm>
          <a:prstGeom prst="roundRect">
            <a:avLst>
              <a:gd name="adj" fmla="val 5594"/>
            </a:avLst>
          </a:prstGeom>
          <a:solidFill>
            <a:srgbClr val="0D2140"/>
          </a:solidFill>
          <a:ln w="12700">
            <a:solidFill>
              <a:srgbClr val="12C2E9"/>
            </a:solidFill>
            <a:prstDash val="solid"/>
          </a:ln>
          <a:effectLst>
            <a:outerShdw blurRad="1524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480560" y="201168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2C2E9"/>
                </a:solidFill>
              </a:rPr>
              <a:t>JAN 2026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80560" y="22860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8FBFF"/>
                </a:solidFill>
              </a:rPr>
              <a:t>Enterprise Customer Success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F8FBFF"/>
                </a:solidFill>
              </a:rPr>
              <a:t>Intelligence Platform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80560" y="276148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A9B8CE"/>
                </a:solidFill>
              </a:rPr>
              <a:t>Power BI • Power Automate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4480560" y="299008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2C2E9"/>
                </a:solidFill>
              </a:rPr>
              <a:t>Unified health, adoption &amp; risk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847088"/>
            <a:ext cx="3429000" cy="1307592"/>
          </a:xfrm>
          <a:prstGeom prst="roundRect">
            <a:avLst>
              <a:gd name="adj" fmla="val 5594"/>
            </a:avLst>
          </a:prstGeom>
          <a:solidFill>
            <a:srgbClr val="0D2140"/>
          </a:solidFill>
          <a:ln w="12700">
            <a:solidFill>
              <a:srgbClr val="A3E635"/>
            </a:solidFill>
            <a:prstDash val="solid"/>
          </a:ln>
          <a:effectLst>
            <a:outerShdw blurRad="1524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321040" y="201168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A3E635"/>
                </a:solidFill>
              </a:rPr>
              <a:t>AUG 2026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321040" y="22860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8FBFF"/>
                </a:solidFill>
              </a:rPr>
              <a:t>Multi-Agent Sales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F8FBFF"/>
                </a:solidFill>
              </a:rPr>
              <a:t>Intelligence System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21040" y="276148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A9B8CE"/>
                </a:solidFill>
              </a:rPr>
              <a:t>n8n • Mistral AI • Docker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8321040" y="299008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3E635"/>
                </a:solidFill>
              </a:rPr>
              <a:t>5+ specialized agents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" y="4133088"/>
            <a:ext cx="1664208" cy="822960"/>
          </a:xfrm>
          <a:prstGeom prst="hexagon">
            <a:avLst/>
          </a:prstGeom>
          <a:solidFill>
            <a:srgbClr val="102A50"/>
          </a:solidFill>
          <a:ln w="19050">
            <a:solidFill>
              <a:srgbClr val="FF5B7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0080" y="4343400"/>
            <a:ext cx="1389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5B7F"/>
                </a:solidFill>
              </a:rPr>
              <a:t>FRICTION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12648" y="4599432"/>
            <a:ext cx="14447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F8FBFF"/>
                </a:solidFill>
              </a:rPr>
              <a:t>Fragmented work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2267712" y="4370832"/>
            <a:ext cx="274320" cy="301752"/>
          </a:xfrm>
          <a:prstGeom prst="chevron">
            <a:avLst/>
          </a:prstGeom>
          <a:solidFill>
            <a:srgbClr val="294567"/>
          </a:solidFill>
          <a:ln w="12700">
            <a:solidFill>
              <a:srgbClr val="29456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2770632" y="4133088"/>
            <a:ext cx="1664208" cy="822960"/>
          </a:xfrm>
          <a:prstGeom prst="hexagon">
            <a:avLst/>
          </a:prstGeom>
          <a:solidFill>
            <a:srgbClr val="102A50"/>
          </a:solidFill>
          <a:ln w="1905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907792" y="4343400"/>
            <a:ext cx="1389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9F43"/>
                </a:solidFill>
              </a:rPr>
              <a:t>SIGNAL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880360" y="4599432"/>
            <a:ext cx="14447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F8FBFF"/>
                </a:solidFill>
              </a:rPr>
              <a:t>Find the pattern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4535424" y="4370832"/>
            <a:ext cx="274320" cy="301752"/>
          </a:xfrm>
          <a:prstGeom prst="chevron">
            <a:avLst/>
          </a:prstGeom>
          <a:solidFill>
            <a:srgbClr val="294567"/>
          </a:solidFill>
          <a:ln w="12700">
            <a:solidFill>
              <a:srgbClr val="29456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5038344" y="4133088"/>
            <a:ext cx="1664208" cy="822960"/>
          </a:xfrm>
          <a:prstGeom prst="hexagon">
            <a:avLst/>
          </a:prstGeom>
          <a:solidFill>
            <a:srgbClr val="102A50"/>
          </a:solidFill>
          <a:ln w="19050">
            <a:solidFill>
              <a:srgbClr val="12C2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175504" y="4343400"/>
            <a:ext cx="1389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2C2E9"/>
                </a:solidFill>
              </a:rPr>
              <a:t>SYSTEM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148072" y="4599432"/>
            <a:ext cx="14447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F8FBFF"/>
                </a:solidFill>
              </a:rPr>
              <a:t>Build the workflow</a:t>
            </a:r>
            <a:endParaRPr lang="en-US" sz="720" dirty="0"/>
          </a:p>
        </p:txBody>
      </p:sp>
      <p:sp>
        <p:nvSpPr>
          <p:cNvPr id="31" name="Shape 29"/>
          <p:cNvSpPr/>
          <p:nvPr/>
        </p:nvSpPr>
        <p:spPr>
          <a:xfrm>
            <a:off x="6803136" y="4370832"/>
            <a:ext cx="274320" cy="301752"/>
          </a:xfrm>
          <a:prstGeom prst="chevron">
            <a:avLst/>
          </a:prstGeom>
          <a:solidFill>
            <a:srgbClr val="294567"/>
          </a:solidFill>
          <a:ln w="12700">
            <a:solidFill>
              <a:srgbClr val="29456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7306056" y="4133088"/>
            <a:ext cx="1664208" cy="822960"/>
          </a:xfrm>
          <a:prstGeom prst="hexagon">
            <a:avLst/>
          </a:prstGeom>
          <a:solidFill>
            <a:srgbClr val="102A50"/>
          </a:solidFill>
          <a:ln w="19050">
            <a:solidFill>
              <a:srgbClr val="9B8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7443216" y="4343400"/>
            <a:ext cx="1389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B87F5"/>
                </a:solidFill>
              </a:rPr>
              <a:t>INTELLIGENCE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415784" y="4599432"/>
            <a:ext cx="14447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F8FBFF"/>
                </a:solidFill>
              </a:rPr>
              <a:t>Surface decisions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9070848" y="4370832"/>
            <a:ext cx="274320" cy="301752"/>
          </a:xfrm>
          <a:prstGeom prst="chevron">
            <a:avLst/>
          </a:prstGeom>
          <a:solidFill>
            <a:srgbClr val="294567"/>
          </a:solidFill>
          <a:ln w="12700">
            <a:solidFill>
              <a:srgbClr val="29456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9573768" y="4133088"/>
            <a:ext cx="1664208" cy="822960"/>
          </a:xfrm>
          <a:prstGeom prst="hexagon">
            <a:avLst/>
          </a:prstGeom>
          <a:solidFill>
            <a:srgbClr val="102A50"/>
          </a:solidFill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9710928" y="4343400"/>
            <a:ext cx="1389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3E635"/>
                </a:solidFill>
              </a:rPr>
              <a:t>LEVERAGE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9683496" y="4599432"/>
            <a:ext cx="14447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F8FBFF"/>
                </a:solidFill>
              </a:rPr>
              <a:t>Scale the outcome</a:t>
            </a:r>
            <a:endParaRPr lang="en-US" sz="720" dirty="0"/>
          </a:p>
        </p:txBody>
      </p:sp>
      <p:sp>
        <p:nvSpPr>
          <p:cNvPr id="39" name="Shape 37">
            <a:hlinkClick r:id="rId3" action="ppaction://hlinksldjump"/>
          </p:cNvPr>
          <p:cNvSpPr/>
          <p:nvPr/>
        </p:nvSpPr>
        <p:spPr>
          <a:xfrm>
            <a:off x="384048" y="6053328"/>
            <a:ext cx="1024128" cy="320040"/>
          </a:xfrm>
          <a:prstGeom prst="roundRect">
            <a:avLst>
              <a:gd name="adj" fmla="val 28571"/>
            </a:avLst>
          </a:prstGeom>
          <a:solidFill>
            <a:srgbClr val="102A50">
              <a:alpha val="94000"/>
            </a:srgbClr>
          </a:solidFill>
          <a:ln w="12700">
            <a:solidFill>
              <a:srgbClr val="102A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38912" y="6135624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8FBFF"/>
                </a:solidFill>
              </a:rPr>
              <a:t>HOME</a:t>
            </a:r>
            <a:endParaRPr lang="en-US" sz="820" dirty="0"/>
          </a:p>
        </p:txBody>
      </p:sp>
      <p:sp>
        <p:nvSpPr>
          <p:cNvPr id="41" name="Text 39">
            <a:hlinkClick r:id="rId3" action="ppaction://hlinksldjump"/>
          </p:cNvPr>
          <p:cNvSpPr/>
          <p:nvPr/>
        </p:nvSpPr>
        <p:spPr>
          <a:xfrm>
            <a:off x="384048" y="6053328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Shape 40">
            <a:hlinkClick r:id="rId4" action="ppaction://hlinksldjump"/>
          </p:cNvPr>
          <p:cNvSpPr/>
          <p:nvPr/>
        </p:nvSpPr>
        <p:spPr>
          <a:xfrm>
            <a:off x="1554480" y="6053328"/>
            <a:ext cx="1024128" cy="320040"/>
          </a:xfrm>
          <a:prstGeom prst="roundRect">
            <a:avLst>
              <a:gd name="adj" fmla="val 28571"/>
            </a:avLst>
          </a:prstGeom>
          <a:solidFill>
            <a:srgbClr val="102A50">
              <a:alpha val="94000"/>
            </a:srgbClr>
          </a:solidFill>
          <a:ln w="12700">
            <a:solidFill>
              <a:srgbClr val="102A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1609344" y="6135624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8FBFF"/>
                </a:solidFill>
              </a:rPr>
              <a:t>TIMELINE</a:t>
            </a:r>
            <a:endParaRPr lang="en-US" sz="820" dirty="0"/>
          </a:p>
        </p:txBody>
      </p:sp>
      <p:sp>
        <p:nvSpPr>
          <p:cNvPr id="44" name="Text 42">
            <a:hlinkClick r:id="rId4" action="ppaction://hlinksldjump"/>
          </p:cNvPr>
          <p:cNvSpPr/>
          <p:nvPr/>
        </p:nvSpPr>
        <p:spPr>
          <a:xfrm>
            <a:off x="1554480" y="6053328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Shape 43">
            <a:hlinkClick r:id="rId5" action="ppaction://hlinksldjump"/>
          </p:cNvPr>
          <p:cNvSpPr/>
          <p:nvPr/>
        </p:nvSpPr>
        <p:spPr>
          <a:xfrm>
            <a:off x="2724912" y="6053328"/>
            <a:ext cx="1024128" cy="320040"/>
          </a:xfrm>
          <a:prstGeom prst="roundRect">
            <a:avLst>
              <a:gd name="adj" fmla="val 28571"/>
            </a:avLst>
          </a:prstGeom>
          <a:solidFill>
            <a:srgbClr val="102A50">
              <a:alpha val="94000"/>
            </a:srgbClr>
          </a:solidFill>
          <a:ln w="12700">
            <a:solidFill>
              <a:srgbClr val="102A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2779776" y="6135624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8FBFF"/>
                </a:solidFill>
              </a:rPr>
              <a:t>IMPACT</a:t>
            </a:r>
            <a:endParaRPr lang="en-US" sz="820" dirty="0"/>
          </a:p>
        </p:txBody>
      </p:sp>
      <p:sp>
        <p:nvSpPr>
          <p:cNvPr id="47" name="Text 45">
            <a:hlinkClick r:id="rId5" action="ppaction://hlinksldjump"/>
          </p:cNvPr>
          <p:cNvSpPr/>
          <p:nvPr/>
        </p:nvSpPr>
        <p:spPr>
          <a:xfrm>
            <a:off x="2724912" y="6053328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Shape 46">
            <a:hlinkClick r:id="rId6" action="ppaction://hlinksldjump"/>
          </p:cNvPr>
          <p:cNvSpPr/>
          <p:nvPr/>
        </p:nvSpPr>
        <p:spPr>
          <a:xfrm>
            <a:off x="3895344" y="6053328"/>
            <a:ext cx="1024128" cy="320040"/>
          </a:xfrm>
          <a:prstGeom prst="roundRect">
            <a:avLst>
              <a:gd name="adj" fmla="val 28571"/>
            </a:avLst>
          </a:prstGeom>
          <a:solidFill>
            <a:srgbClr val="12C2E9">
              <a:alpha val="94000"/>
            </a:srgbClr>
          </a:solidFill>
          <a:ln w="12700">
            <a:solidFill>
              <a:srgbClr val="12C2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3950208" y="6135624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8FBFF"/>
                </a:solidFill>
              </a:rPr>
              <a:t>PROJECTS</a:t>
            </a:r>
            <a:endParaRPr lang="en-US" sz="820" dirty="0"/>
          </a:p>
        </p:txBody>
      </p:sp>
      <p:sp>
        <p:nvSpPr>
          <p:cNvPr id="50" name="Text 48">
            <a:hlinkClick r:id="rId6" action="ppaction://hlinksldjump"/>
          </p:cNvPr>
          <p:cNvSpPr/>
          <p:nvPr/>
        </p:nvSpPr>
        <p:spPr>
          <a:xfrm>
            <a:off x="3895344" y="6053328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Shape 49">
            <a:hlinkClick r:id="rId7" action="ppaction://hlinksldjump"/>
          </p:cNvPr>
          <p:cNvSpPr/>
          <p:nvPr/>
        </p:nvSpPr>
        <p:spPr>
          <a:xfrm>
            <a:off x="5065776" y="6053328"/>
            <a:ext cx="1024128" cy="320040"/>
          </a:xfrm>
          <a:prstGeom prst="roundRect">
            <a:avLst>
              <a:gd name="adj" fmla="val 28571"/>
            </a:avLst>
          </a:prstGeom>
          <a:solidFill>
            <a:srgbClr val="102A50">
              <a:alpha val="94000"/>
            </a:srgbClr>
          </a:solidFill>
          <a:ln w="12700">
            <a:solidFill>
              <a:srgbClr val="102A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5120640" y="6135624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8FBFF"/>
                </a:solidFill>
              </a:rPr>
              <a:t>SKILLS</a:t>
            </a:r>
            <a:endParaRPr lang="en-US" sz="820" dirty="0"/>
          </a:p>
        </p:txBody>
      </p:sp>
      <p:sp>
        <p:nvSpPr>
          <p:cNvPr id="53" name="Text 51">
            <a:hlinkClick r:id="rId7" action="ppaction://hlinksldjump"/>
          </p:cNvPr>
          <p:cNvSpPr/>
          <p:nvPr/>
        </p:nvSpPr>
        <p:spPr>
          <a:xfrm>
            <a:off x="5065776" y="6053328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Shape 52">
            <a:hlinkClick r:id="rId8" action="ppaction://hlinksldjump"/>
          </p:cNvPr>
          <p:cNvSpPr/>
          <p:nvPr/>
        </p:nvSpPr>
        <p:spPr>
          <a:xfrm>
            <a:off x="6236208" y="6053328"/>
            <a:ext cx="1024128" cy="320040"/>
          </a:xfrm>
          <a:prstGeom prst="roundRect">
            <a:avLst>
              <a:gd name="adj" fmla="val 28571"/>
            </a:avLst>
          </a:prstGeom>
          <a:solidFill>
            <a:srgbClr val="102A50">
              <a:alpha val="94000"/>
            </a:srgbClr>
          </a:solidFill>
          <a:ln w="12700">
            <a:solidFill>
              <a:srgbClr val="102A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6291072" y="6135624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8FBFF"/>
                </a:solidFill>
              </a:rPr>
              <a:t>MODEL</a:t>
            </a:r>
            <a:endParaRPr lang="en-US" sz="820" dirty="0"/>
          </a:p>
        </p:txBody>
      </p:sp>
      <p:sp>
        <p:nvSpPr>
          <p:cNvPr id="56" name="Text 54">
            <a:hlinkClick r:id="rId8" action="ppaction://hlinksldjump"/>
          </p:cNvPr>
          <p:cNvSpPr/>
          <p:nvPr/>
        </p:nvSpPr>
        <p:spPr>
          <a:xfrm>
            <a:off x="6236208" y="6053328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601968"/>
            <a:ext cx="219456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A9B8C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384048" y="5303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2C2E9"/>
                </a:solidFill>
              </a:rPr>
              <a:t>04 • CAPABILITY STACK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84048" y="822960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FBFF"/>
                </a:solidFill>
              </a:rPr>
              <a:t>Tools changed. The core advantage kept compounding.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84048" y="135331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A9B8CE"/>
                </a:solidFill>
              </a:rPr>
              <a:t>Click a layer to return to evidence on the timeline or impact cockpit.</a:t>
            </a:r>
            <a:endParaRPr lang="en-US" sz="1100" dirty="0"/>
          </a:p>
        </p:txBody>
      </p:sp>
      <p:sp>
        <p:nvSpPr>
          <p:cNvPr id="5" name="Shape 3">
            <a:hlinkClick r:id="rId3" action="ppaction://hlinksldjump"/>
          </p:cNvPr>
          <p:cNvSpPr/>
          <p:nvPr/>
        </p:nvSpPr>
        <p:spPr>
          <a:xfrm>
            <a:off x="3831336" y="1874520"/>
            <a:ext cx="4526280" cy="566928"/>
          </a:xfrm>
          <a:prstGeom prst="trapezoid">
            <a:avLst/>
          </a:prstGeom>
          <a:solidFill>
            <a:srgbClr val="A3E635">
              <a:alpha val="92000"/>
            </a:srgbClr>
          </a:solidFill>
          <a:ln w="1524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014216" y="2002536"/>
            <a:ext cx="1463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71326"/>
                </a:solidFill>
              </a:rPr>
              <a:t>AI &amp; INTELLIGENCE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522976" y="2002536"/>
            <a:ext cx="2514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60" b="1" dirty="0">
                <a:solidFill>
                  <a:srgbClr val="071326"/>
                </a:solidFill>
              </a:rPr>
              <a:t>Prompt engineering • multi-agent workflows • NLP • APIs</a:t>
            </a:r>
            <a:endParaRPr lang="en-US" sz="860" dirty="0"/>
          </a:p>
        </p:txBody>
      </p:sp>
      <p:sp>
        <p:nvSpPr>
          <p:cNvPr id="8" name="Shape 6">
            <a:hlinkClick r:id="rId3" action="ppaction://hlinksldjump"/>
          </p:cNvPr>
          <p:cNvSpPr/>
          <p:nvPr/>
        </p:nvSpPr>
        <p:spPr>
          <a:xfrm>
            <a:off x="3511296" y="2587752"/>
            <a:ext cx="5166360" cy="566928"/>
          </a:xfrm>
          <a:prstGeom prst="trapezoid">
            <a:avLst/>
          </a:prstGeom>
          <a:solidFill>
            <a:srgbClr val="FF5B7F">
              <a:alpha val="92000"/>
            </a:srgbClr>
          </a:solidFill>
          <a:ln w="15240">
            <a:solidFill>
              <a:srgbClr val="FF5B7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94176" y="2715768"/>
            <a:ext cx="1463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71326"/>
                </a:solidFill>
              </a:rPr>
              <a:t>CLIENT LEADERSHIP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202936" y="2715768"/>
            <a:ext cx="3154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60" b="1" dirty="0">
                <a:solidFill>
                  <a:srgbClr val="071326"/>
                </a:solidFill>
              </a:rPr>
              <a:t>Executive communication • strategic advisory • escalation management</a:t>
            </a:r>
            <a:endParaRPr lang="en-US" sz="860" dirty="0"/>
          </a:p>
        </p:txBody>
      </p:sp>
      <p:sp>
        <p:nvSpPr>
          <p:cNvPr id="11" name="Shape 9">
            <a:hlinkClick r:id="rId4" action="ppaction://hlinksldjump"/>
          </p:cNvPr>
          <p:cNvSpPr/>
          <p:nvPr/>
        </p:nvSpPr>
        <p:spPr>
          <a:xfrm>
            <a:off x="3191256" y="3300984"/>
            <a:ext cx="5806440" cy="566928"/>
          </a:xfrm>
          <a:prstGeom prst="trapezoid">
            <a:avLst/>
          </a:prstGeom>
          <a:solidFill>
            <a:srgbClr val="12C2E9">
              <a:alpha val="92000"/>
            </a:srgbClr>
          </a:solidFill>
          <a:ln w="15240">
            <a:solidFill>
              <a:srgbClr val="12C2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374136" y="3429000"/>
            <a:ext cx="1463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71326"/>
                </a:solidFill>
              </a:rPr>
              <a:t>PRODUCT &amp; DELIVERY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82896" y="3429000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60" b="1" dirty="0">
                <a:solidFill>
                  <a:srgbClr val="071326"/>
                </a:solidFill>
              </a:rPr>
              <a:t>Roadmaps • agile • requirements • UAT • risk &amp; change</a:t>
            </a:r>
            <a:endParaRPr lang="en-US" sz="860" dirty="0"/>
          </a:p>
        </p:txBody>
      </p:sp>
      <p:sp>
        <p:nvSpPr>
          <p:cNvPr id="14" name="Shape 12">
            <a:hlinkClick r:id="rId4" action="ppaction://hlinksldjump"/>
          </p:cNvPr>
          <p:cNvSpPr/>
          <p:nvPr/>
        </p:nvSpPr>
        <p:spPr>
          <a:xfrm>
            <a:off x="2871216" y="4014216"/>
            <a:ext cx="6446520" cy="566928"/>
          </a:xfrm>
          <a:prstGeom prst="trapezoid">
            <a:avLst/>
          </a:prstGeom>
          <a:solidFill>
            <a:srgbClr val="FF9F43">
              <a:alpha val="92000"/>
            </a:srgbClr>
          </a:solidFill>
          <a:ln w="1524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054096" y="4142232"/>
            <a:ext cx="1463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71326"/>
                </a:solidFill>
              </a:rPr>
              <a:t>AUTOMATION &amp; DATA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62856" y="4142232"/>
            <a:ext cx="4434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60" b="1" dirty="0">
                <a:solidFill>
                  <a:srgbClr val="071326"/>
                </a:solidFill>
              </a:rPr>
              <a:t>Power Platform • VBA • Power BI • SQL • Python • Databricks</a:t>
            </a:r>
            <a:endParaRPr lang="en-US" sz="860" dirty="0"/>
          </a:p>
        </p:txBody>
      </p:sp>
      <p:sp>
        <p:nvSpPr>
          <p:cNvPr id="17" name="Shape 15">
            <a:hlinkClick r:id="rId4" action="ppaction://hlinksldjump"/>
          </p:cNvPr>
          <p:cNvSpPr/>
          <p:nvPr/>
        </p:nvSpPr>
        <p:spPr>
          <a:xfrm>
            <a:off x="2551176" y="4727448"/>
            <a:ext cx="7086600" cy="566928"/>
          </a:xfrm>
          <a:prstGeom prst="trapezoid">
            <a:avLst/>
          </a:prstGeom>
          <a:solidFill>
            <a:srgbClr val="9B87F5">
              <a:alpha val="92000"/>
            </a:srgbClr>
          </a:solidFill>
          <a:ln w="15240">
            <a:solidFill>
              <a:srgbClr val="9B8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734056" y="4855464"/>
            <a:ext cx="1463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71326"/>
                </a:solidFill>
              </a:rPr>
              <a:t>FINANCIAL MARKETS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242816" y="4855464"/>
            <a:ext cx="5074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60" b="1" dirty="0">
                <a:solidFill>
                  <a:srgbClr val="071326"/>
                </a:solidFill>
              </a:rPr>
              <a:t>Fixed Income • Repo • Equities • Capital Markets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1828800" y="5532120"/>
            <a:ext cx="8549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A9B8CE"/>
                </a:solidFill>
              </a:rPr>
              <a:t>The stack is designed to read bottom-up: domain context enables automation; automation enables delivery; delivery builds trust; trust creates room for intelligence.</a:t>
            </a:r>
            <a:endParaRPr lang="en-US" sz="950" dirty="0"/>
          </a:p>
        </p:txBody>
      </p:sp>
      <p:sp>
        <p:nvSpPr>
          <p:cNvPr id="21" name="Shape 19">
            <a:hlinkClick r:id="rId5" action="ppaction://hlinksldjump"/>
          </p:cNvPr>
          <p:cNvSpPr/>
          <p:nvPr/>
        </p:nvSpPr>
        <p:spPr>
          <a:xfrm>
            <a:off x="384048" y="6053328"/>
            <a:ext cx="1024128" cy="320040"/>
          </a:xfrm>
          <a:prstGeom prst="roundRect">
            <a:avLst>
              <a:gd name="adj" fmla="val 28571"/>
            </a:avLst>
          </a:prstGeom>
          <a:solidFill>
            <a:srgbClr val="102A50">
              <a:alpha val="94000"/>
            </a:srgbClr>
          </a:solidFill>
          <a:ln w="12700">
            <a:solidFill>
              <a:srgbClr val="102A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38912" y="6135624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8FBFF"/>
                </a:solidFill>
              </a:rPr>
              <a:t>HOME</a:t>
            </a:r>
            <a:endParaRPr lang="en-US" sz="820" dirty="0"/>
          </a:p>
        </p:txBody>
      </p:sp>
      <p:sp>
        <p:nvSpPr>
          <p:cNvPr id="23" name="Text 21">
            <a:hlinkClick r:id="rId5" action="ppaction://hlinksldjump"/>
          </p:cNvPr>
          <p:cNvSpPr/>
          <p:nvPr/>
        </p:nvSpPr>
        <p:spPr>
          <a:xfrm>
            <a:off x="384048" y="6053328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>
            <a:hlinkClick r:id="rId4" action="ppaction://hlinksldjump"/>
          </p:cNvPr>
          <p:cNvSpPr/>
          <p:nvPr/>
        </p:nvSpPr>
        <p:spPr>
          <a:xfrm>
            <a:off x="1554480" y="6053328"/>
            <a:ext cx="1024128" cy="320040"/>
          </a:xfrm>
          <a:prstGeom prst="roundRect">
            <a:avLst>
              <a:gd name="adj" fmla="val 28571"/>
            </a:avLst>
          </a:prstGeom>
          <a:solidFill>
            <a:srgbClr val="102A50">
              <a:alpha val="94000"/>
            </a:srgbClr>
          </a:solidFill>
          <a:ln w="12700">
            <a:solidFill>
              <a:srgbClr val="102A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609344" y="6135624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8FBFF"/>
                </a:solidFill>
              </a:rPr>
              <a:t>TIMELINE</a:t>
            </a:r>
            <a:endParaRPr lang="en-US" sz="820" dirty="0"/>
          </a:p>
        </p:txBody>
      </p:sp>
      <p:sp>
        <p:nvSpPr>
          <p:cNvPr id="26" name="Text 24">
            <a:hlinkClick r:id="rId4" action="ppaction://hlinksldjump"/>
          </p:cNvPr>
          <p:cNvSpPr/>
          <p:nvPr/>
        </p:nvSpPr>
        <p:spPr>
          <a:xfrm>
            <a:off x="1554480" y="6053328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>
            <a:hlinkClick r:id="rId3" action="ppaction://hlinksldjump"/>
          </p:cNvPr>
          <p:cNvSpPr/>
          <p:nvPr/>
        </p:nvSpPr>
        <p:spPr>
          <a:xfrm>
            <a:off x="2724912" y="6053328"/>
            <a:ext cx="1024128" cy="320040"/>
          </a:xfrm>
          <a:prstGeom prst="roundRect">
            <a:avLst>
              <a:gd name="adj" fmla="val 28571"/>
            </a:avLst>
          </a:prstGeom>
          <a:solidFill>
            <a:srgbClr val="102A50">
              <a:alpha val="94000"/>
            </a:srgbClr>
          </a:solidFill>
          <a:ln w="12700">
            <a:solidFill>
              <a:srgbClr val="102A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779776" y="6135624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8FBFF"/>
                </a:solidFill>
              </a:rPr>
              <a:t>IMPACT</a:t>
            </a:r>
            <a:endParaRPr lang="en-US" sz="820" dirty="0"/>
          </a:p>
        </p:txBody>
      </p:sp>
      <p:sp>
        <p:nvSpPr>
          <p:cNvPr id="29" name="Text 27">
            <a:hlinkClick r:id="rId3" action="ppaction://hlinksldjump"/>
          </p:cNvPr>
          <p:cNvSpPr/>
          <p:nvPr/>
        </p:nvSpPr>
        <p:spPr>
          <a:xfrm>
            <a:off x="2724912" y="6053328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>
            <a:hlinkClick r:id="rId6" action="ppaction://hlinksldjump"/>
          </p:cNvPr>
          <p:cNvSpPr/>
          <p:nvPr/>
        </p:nvSpPr>
        <p:spPr>
          <a:xfrm>
            <a:off x="3895344" y="6053328"/>
            <a:ext cx="1024128" cy="320040"/>
          </a:xfrm>
          <a:prstGeom prst="roundRect">
            <a:avLst>
              <a:gd name="adj" fmla="val 28571"/>
            </a:avLst>
          </a:prstGeom>
          <a:solidFill>
            <a:srgbClr val="102A50">
              <a:alpha val="94000"/>
            </a:srgbClr>
          </a:solidFill>
          <a:ln w="12700">
            <a:solidFill>
              <a:srgbClr val="102A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950208" y="6135624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8FBFF"/>
                </a:solidFill>
              </a:rPr>
              <a:t>PROJECTS</a:t>
            </a:r>
            <a:endParaRPr lang="en-US" sz="820" dirty="0"/>
          </a:p>
        </p:txBody>
      </p:sp>
      <p:sp>
        <p:nvSpPr>
          <p:cNvPr id="32" name="Text 30">
            <a:hlinkClick r:id="rId6" action="ppaction://hlinksldjump"/>
          </p:cNvPr>
          <p:cNvSpPr/>
          <p:nvPr/>
        </p:nvSpPr>
        <p:spPr>
          <a:xfrm>
            <a:off x="3895344" y="6053328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Shape 31">
            <a:hlinkClick r:id="rId7" action="ppaction://hlinksldjump"/>
          </p:cNvPr>
          <p:cNvSpPr/>
          <p:nvPr/>
        </p:nvSpPr>
        <p:spPr>
          <a:xfrm>
            <a:off x="5065776" y="6053328"/>
            <a:ext cx="1024128" cy="320040"/>
          </a:xfrm>
          <a:prstGeom prst="roundRect">
            <a:avLst>
              <a:gd name="adj" fmla="val 28571"/>
            </a:avLst>
          </a:prstGeom>
          <a:solidFill>
            <a:srgbClr val="12C2E9">
              <a:alpha val="94000"/>
            </a:srgbClr>
          </a:solidFill>
          <a:ln w="12700">
            <a:solidFill>
              <a:srgbClr val="12C2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120640" y="6135624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8FBFF"/>
                </a:solidFill>
              </a:rPr>
              <a:t>SKILLS</a:t>
            </a:r>
            <a:endParaRPr lang="en-US" sz="820" dirty="0"/>
          </a:p>
        </p:txBody>
      </p:sp>
      <p:sp>
        <p:nvSpPr>
          <p:cNvPr id="35" name="Text 33">
            <a:hlinkClick r:id="rId7" action="ppaction://hlinksldjump"/>
          </p:cNvPr>
          <p:cNvSpPr/>
          <p:nvPr/>
        </p:nvSpPr>
        <p:spPr>
          <a:xfrm>
            <a:off x="5065776" y="6053328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Shape 34">
            <a:hlinkClick r:id="rId8" action="ppaction://hlinksldjump"/>
          </p:cNvPr>
          <p:cNvSpPr/>
          <p:nvPr/>
        </p:nvSpPr>
        <p:spPr>
          <a:xfrm>
            <a:off x="6236208" y="6053328"/>
            <a:ext cx="1024128" cy="320040"/>
          </a:xfrm>
          <a:prstGeom prst="roundRect">
            <a:avLst>
              <a:gd name="adj" fmla="val 28571"/>
            </a:avLst>
          </a:prstGeom>
          <a:solidFill>
            <a:srgbClr val="102A50">
              <a:alpha val="94000"/>
            </a:srgbClr>
          </a:solidFill>
          <a:ln w="12700">
            <a:solidFill>
              <a:srgbClr val="102A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291072" y="6135624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8FBFF"/>
                </a:solidFill>
              </a:rPr>
              <a:t>MODEL</a:t>
            </a:r>
            <a:endParaRPr lang="en-US" sz="820" dirty="0"/>
          </a:p>
        </p:txBody>
      </p:sp>
      <p:sp>
        <p:nvSpPr>
          <p:cNvPr id="38" name="Text 36">
            <a:hlinkClick r:id="rId8" action="ppaction://hlinksldjump"/>
          </p:cNvPr>
          <p:cNvSpPr/>
          <p:nvPr/>
        </p:nvSpPr>
        <p:spPr>
          <a:xfrm>
            <a:off x="6236208" y="6053328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601968"/>
            <a:ext cx="219456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A9B8C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384048" y="5303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2C2E9"/>
                </a:solidFill>
              </a:rPr>
              <a:t>05 • THE EXPERIENCE OPERATING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84048" y="822960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FBFF"/>
                </a:solidFill>
              </a:rPr>
              <a:t>How I convert ambiguity into a visible, repeatable path forward.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84048" y="135331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A9B8CE"/>
                </a:solidFill>
              </a:rPr>
              <a:t>This is the reusable system behind the roles, metrics and projects.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19472" y="1664208"/>
            <a:ext cx="2340864" cy="822960"/>
          </a:xfrm>
          <a:prstGeom prst="roundRect">
            <a:avLst>
              <a:gd name="adj" fmla="val 8889"/>
            </a:avLst>
          </a:prstGeom>
          <a:solidFill>
            <a:srgbClr val="0D2140"/>
          </a:solidFill>
          <a:ln w="12700">
            <a:solidFill>
              <a:srgbClr val="9B87F5"/>
            </a:solidFill>
            <a:prstDash val="solid"/>
          </a:ln>
          <a:effectLst>
            <a:outerShdw blurRad="1524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065776" y="1828800"/>
            <a:ext cx="411480" cy="411480"/>
          </a:xfrm>
          <a:prstGeom prst="ellipse">
            <a:avLst/>
          </a:prstGeom>
          <a:solidFill>
            <a:srgbClr val="9B87F5"/>
          </a:solidFill>
          <a:ln w="12700">
            <a:solidFill>
              <a:srgbClr val="9B8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157216" y="1920240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1326"/>
                </a:solidFill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586984" y="1847088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B87F5"/>
                </a:solidFill>
              </a:rPr>
              <a:t>CONTEXT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586984" y="209397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F8FBFF"/>
                </a:solidFill>
              </a:rPr>
              <a:t>Understand the market, client and constraint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7770289" y="2478024"/>
            <a:ext cx="2340864" cy="822960"/>
          </a:xfrm>
          <a:prstGeom prst="roundRect">
            <a:avLst>
              <a:gd name="adj" fmla="val 8889"/>
            </a:avLst>
          </a:prstGeom>
          <a:solidFill>
            <a:srgbClr val="0D2140"/>
          </a:solidFill>
          <a:ln w="12700">
            <a:solidFill>
              <a:srgbClr val="FF9F43"/>
            </a:solidFill>
            <a:prstDash val="solid"/>
          </a:ln>
          <a:effectLst>
            <a:outerShdw blurRad="1524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916593" y="2642616"/>
            <a:ext cx="411480" cy="411480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008033" y="2734056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1326"/>
                </a:solidFill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437801" y="2660904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9F43"/>
                </a:solidFill>
              </a:rPr>
              <a:t>SIGNAL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437801" y="290779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F8FBFF"/>
                </a:solidFill>
              </a:rPr>
              <a:t>Separate noise from the real decision</a:t>
            </a:r>
            <a:endParaRPr lang="en-US" sz="680" dirty="0"/>
          </a:p>
        </p:txBody>
      </p:sp>
      <p:sp>
        <p:nvSpPr>
          <p:cNvPr id="15" name="Shape 13"/>
          <p:cNvSpPr/>
          <p:nvPr/>
        </p:nvSpPr>
        <p:spPr>
          <a:xfrm>
            <a:off x="7770289" y="4105656"/>
            <a:ext cx="2340864" cy="822960"/>
          </a:xfrm>
          <a:prstGeom prst="roundRect">
            <a:avLst>
              <a:gd name="adj" fmla="val 8889"/>
            </a:avLst>
          </a:prstGeom>
          <a:solidFill>
            <a:srgbClr val="0D2140"/>
          </a:solidFill>
          <a:ln w="12700">
            <a:solidFill>
              <a:srgbClr val="12C2E9"/>
            </a:solidFill>
            <a:prstDash val="solid"/>
          </a:ln>
          <a:effectLst>
            <a:outerShdw blurRad="1524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916593" y="4270248"/>
            <a:ext cx="411480" cy="411480"/>
          </a:xfrm>
          <a:prstGeom prst="ellipse">
            <a:avLst/>
          </a:prstGeom>
          <a:solidFill>
            <a:srgbClr val="12C2E9"/>
          </a:solidFill>
          <a:ln w="12700">
            <a:solidFill>
              <a:srgbClr val="12C2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008033" y="4361688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1326"/>
                </a:solidFill>
              </a:rPr>
              <a:t>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437801" y="428853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2C2E9"/>
                </a:solidFill>
              </a:rPr>
              <a:t>DESIGN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437801" y="453542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F8FBFF"/>
                </a:solidFill>
              </a:rPr>
              <a:t>Translate needs into roadmap and workflow</a:t>
            </a:r>
            <a:endParaRPr lang="en-US" sz="680" dirty="0"/>
          </a:p>
        </p:txBody>
      </p:sp>
      <p:sp>
        <p:nvSpPr>
          <p:cNvPr id="20" name="Shape 18"/>
          <p:cNvSpPr/>
          <p:nvPr/>
        </p:nvSpPr>
        <p:spPr>
          <a:xfrm>
            <a:off x="4919472" y="4919472"/>
            <a:ext cx="2340864" cy="822960"/>
          </a:xfrm>
          <a:prstGeom prst="roundRect">
            <a:avLst>
              <a:gd name="adj" fmla="val 8889"/>
            </a:avLst>
          </a:prstGeom>
          <a:solidFill>
            <a:srgbClr val="0D2140"/>
          </a:solidFill>
          <a:ln w="12700">
            <a:solidFill>
              <a:srgbClr val="FF5B7F"/>
            </a:solidFill>
            <a:prstDash val="solid"/>
          </a:ln>
          <a:effectLst>
            <a:outerShdw blurRad="1524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065776" y="5084064"/>
            <a:ext cx="411480" cy="411480"/>
          </a:xfrm>
          <a:prstGeom prst="ellipse">
            <a:avLst/>
          </a:prstGeom>
          <a:solidFill>
            <a:srgbClr val="FF5B7F"/>
          </a:solidFill>
          <a:ln w="12700">
            <a:solidFill>
              <a:srgbClr val="FF5B7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157216" y="5175504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1326"/>
                </a:solidFill>
              </a:rPr>
              <a:t>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586984" y="5102352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5B7F"/>
                </a:solidFill>
              </a:rPr>
              <a:t>MOBILIZE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586984" y="534924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F8FBFF"/>
                </a:solidFill>
              </a:rPr>
              <a:t>Align Product, Engineering, Support and Commercial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2068655" y="4105656"/>
            <a:ext cx="2340864" cy="822960"/>
          </a:xfrm>
          <a:prstGeom prst="roundRect">
            <a:avLst>
              <a:gd name="adj" fmla="val 8889"/>
            </a:avLst>
          </a:prstGeom>
          <a:solidFill>
            <a:srgbClr val="0D2140"/>
          </a:solidFill>
          <a:ln w="12700">
            <a:solidFill>
              <a:srgbClr val="2F80ED"/>
            </a:solidFill>
            <a:prstDash val="solid"/>
          </a:ln>
          <a:effectLst>
            <a:outerShdw blurRad="1524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214959" y="4270248"/>
            <a:ext cx="411480" cy="41148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306399" y="4361688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1326"/>
                </a:solidFill>
              </a:rPr>
              <a:t>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736167" y="428853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F80ED"/>
                </a:solidFill>
              </a:rPr>
              <a:t>DELIVER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36167" y="453542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F8FBFF"/>
                </a:solidFill>
              </a:rPr>
              <a:t>Track risk, actions, UAT and outcomes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2068655" y="2478024"/>
            <a:ext cx="2340864" cy="822960"/>
          </a:xfrm>
          <a:prstGeom prst="roundRect">
            <a:avLst>
              <a:gd name="adj" fmla="val 8889"/>
            </a:avLst>
          </a:prstGeom>
          <a:solidFill>
            <a:srgbClr val="0D2140"/>
          </a:solidFill>
          <a:ln w="12700">
            <a:solidFill>
              <a:srgbClr val="A3E635"/>
            </a:solidFill>
            <a:prstDash val="solid"/>
          </a:ln>
          <a:effectLst>
            <a:outerShdw blurRad="1524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2214959" y="2642616"/>
            <a:ext cx="411480" cy="411480"/>
          </a:xfrm>
          <a:prstGeom prst="ellipse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2306399" y="2734056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1326"/>
                </a:solidFill>
              </a:rPr>
              <a:t>6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736167" y="2660904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3E635"/>
                </a:solidFill>
              </a:rPr>
              <a:t>LEARN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36167" y="290779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F8FBFF"/>
                </a:solidFill>
              </a:rPr>
              <a:t>Automate feedback and compound the next cycle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4800600" y="2862072"/>
            <a:ext cx="2578608" cy="1664208"/>
          </a:xfrm>
          <a:prstGeom prst="ellipse">
            <a:avLst/>
          </a:prstGeom>
          <a:solidFill>
            <a:srgbClr val="102A50"/>
          </a:solidFill>
          <a:ln w="25400">
            <a:solidFill>
              <a:srgbClr val="12C2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285232" y="324612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9B8CE"/>
                </a:solidFill>
              </a:rPr>
              <a:t>COMPLEXITY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48072" y="358444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BFF"/>
                </a:solidFill>
              </a:rPr>
              <a:t>→ PROGRESS</a:t>
            </a:r>
            <a:endParaRPr lang="en-US" sz="1600" dirty="0"/>
          </a:p>
        </p:txBody>
      </p:sp>
      <p:sp>
        <p:nvSpPr>
          <p:cNvPr id="38" name="Shape 36">
            <a:hlinkClick r:id="rId3" action="ppaction://hlinksldjump"/>
          </p:cNvPr>
          <p:cNvSpPr/>
          <p:nvPr/>
        </p:nvSpPr>
        <p:spPr>
          <a:xfrm>
            <a:off x="384048" y="6053328"/>
            <a:ext cx="1024128" cy="320040"/>
          </a:xfrm>
          <a:prstGeom prst="roundRect">
            <a:avLst>
              <a:gd name="adj" fmla="val 28571"/>
            </a:avLst>
          </a:prstGeom>
          <a:solidFill>
            <a:srgbClr val="102A50">
              <a:alpha val="94000"/>
            </a:srgbClr>
          </a:solidFill>
          <a:ln w="12700">
            <a:solidFill>
              <a:srgbClr val="102A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38912" y="6135624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8FBFF"/>
                </a:solidFill>
              </a:rPr>
              <a:t>HOME</a:t>
            </a:r>
            <a:endParaRPr lang="en-US" sz="820" dirty="0"/>
          </a:p>
        </p:txBody>
      </p:sp>
      <p:sp>
        <p:nvSpPr>
          <p:cNvPr id="40" name="Text 38">
            <a:hlinkClick r:id="rId3" action="ppaction://hlinksldjump"/>
          </p:cNvPr>
          <p:cNvSpPr/>
          <p:nvPr/>
        </p:nvSpPr>
        <p:spPr>
          <a:xfrm>
            <a:off x="384048" y="6053328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Shape 39">
            <a:hlinkClick r:id="rId4" action="ppaction://hlinksldjump"/>
          </p:cNvPr>
          <p:cNvSpPr/>
          <p:nvPr/>
        </p:nvSpPr>
        <p:spPr>
          <a:xfrm>
            <a:off x="1554480" y="6053328"/>
            <a:ext cx="1024128" cy="320040"/>
          </a:xfrm>
          <a:prstGeom prst="roundRect">
            <a:avLst>
              <a:gd name="adj" fmla="val 28571"/>
            </a:avLst>
          </a:prstGeom>
          <a:solidFill>
            <a:srgbClr val="102A50">
              <a:alpha val="94000"/>
            </a:srgbClr>
          </a:solidFill>
          <a:ln w="12700">
            <a:solidFill>
              <a:srgbClr val="102A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1609344" y="6135624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8FBFF"/>
                </a:solidFill>
              </a:rPr>
              <a:t>TIMELINE</a:t>
            </a:r>
            <a:endParaRPr lang="en-US" sz="820" dirty="0"/>
          </a:p>
        </p:txBody>
      </p:sp>
      <p:sp>
        <p:nvSpPr>
          <p:cNvPr id="43" name="Text 41">
            <a:hlinkClick r:id="rId4" action="ppaction://hlinksldjump"/>
          </p:cNvPr>
          <p:cNvSpPr/>
          <p:nvPr/>
        </p:nvSpPr>
        <p:spPr>
          <a:xfrm>
            <a:off x="1554480" y="6053328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Shape 42">
            <a:hlinkClick r:id="rId5" action="ppaction://hlinksldjump"/>
          </p:cNvPr>
          <p:cNvSpPr/>
          <p:nvPr/>
        </p:nvSpPr>
        <p:spPr>
          <a:xfrm>
            <a:off x="2724912" y="6053328"/>
            <a:ext cx="1024128" cy="320040"/>
          </a:xfrm>
          <a:prstGeom prst="roundRect">
            <a:avLst>
              <a:gd name="adj" fmla="val 28571"/>
            </a:avLst>
          </a:prstGeom>
          <a:solidFill>
            <a:srgbClr val="102A50">
              <a:alpha val="94000"/>
            </a:srgbClr>
          </a:solidFill>
          <a:ln w="12700">
            <a:solidFill>
              <a:srgbClr val="102A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2779776" y="6135624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8FBFF"/>
                </a:solidFill>
              </a:rPr>
              <a:t>IMPACT</a:t>
            </a:r>
            <a:endParaRPr lang="en-US" sz="820" dirty="0"/>
          </a:p>
        </p:txBody>
      </p:sp>
      <p:sp>
        <p:nvSpPr>
          <p:cNvPr id="46" name="Text 44">
            <a:hlinkClick r:id="rId5" action="ppaction://hlinksldjump"/>
          </p:cNvPr>
          <p:cNvSpPr/>
          <p:nvPr/>
        </p:nvSpPr>
        <p:spPr>
          <a:xfrm>
            <a:off x="2724912" y="6053328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Shape 45">
            <a:hlinkClick r:id="rId6" action="ppaction://hlinksldjump"/>
          </p:cNvPr>
          <p:cNvSpPr/>
          <p:nvPr/>
        </p:nvSpPr>
        <p:spPr>
          <a:xfrm>
            <a:off x="3895344" y="6053328"/>
            <a:ext cx="1024128" cy="320040"/>
          </a:xfrm>
          <a:prstGeom prst="roundRect">
            <a:avLst>
              <a:gd name="adj" fmla="val 28571"/>
            </a:avLst>
          </a:prstGeom>
          <a:solidFill>
            <a:srgbClr val="102A50">
              <a:alpha val="94000"/>
            </a:srgbClr>
          </a:solidFill>
          <a:ln w="12700">
            <a:solidFill>
              <a:srgbClr val="102A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3950208" y="6135624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8FBFF"/>
                </a:solidFill>
              </a:rPr>
              <a:t>PROJECTS</a:t>
            </a:r>
            <a:endParaRPr lang="en-US" sz="820" dirty="0"/>
          </a:p>
        </p:txBody>
      </p:sp>
      <p:sp>
        <p:nvSpPr>
          <p:cNvPr id="49" name="Text 47">
            <a:hlinkClick r:id="rId6" action="ppaction://hlinksldjump"/>
          </p:cNvPr>
          <p:cNvSpPr/>
          <p:nvPr/>
        </p:nvSpPr>
        <p:spPr>
          <a:xfrm>
            <a:off x="3895344" y="6053328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Shape 48">
            <a:hlinkClick r:id="rId7" action="ppaction://hlinksldjump"/>
          </p:cNvPr>
          <p:cNvSpPr/>
          <p:nvPr/>
        </p:nvSpPr>
        <p:spPr>
          <a:xfrm>
            <a:off x="5065776" y="6053328"/>
            <a:ext cx="1024128" cy="320040"/>
          </a:xfrm>
          <a:prstGeom prst="roundRect">
            <a:avLst>
              <a:gd name="adj" fmla="val 28571"/>
            </a:avLst>
          </a:prstGeom>
          <a:solidFill>
            <a:srgbClr val="102A50">
              <a:alpha val="94000"/>
            </a:srgbClr>
          </a:solidFill>
          <a:ln w="12700">
            <a:solidFill>
              <a:srgbClr val="102A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5120640" y="6135624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8FBFF"/>
                </a:solidFill>
              </a:rPr>
              <a:t>SKILLS</a:t>
            </a:r>
            <a:endParaRPr lang="en-US" sz="820" dirty="0"/>
          </a:p>
        </p:txBody>
      </p:sp>
      <p:sp>
        <p:nvSpPr>
          <p:cNvPr id="52" name="Text 50">
            <a:hlinkClick r:id="rId7" action="ppaction://hlinksldjump"/>
          </p:cNvPr>
          <p:cNvSpPr/>
          <p:nvPr/>
        </p:nvSpPr>
        <p:spPr>
          <a:xfrm>
            <a:off x="5065776" y="6053328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Shape 51">
            <a:hlinkClick r:id="rId8" action="ppaction://hlinksldjump"/>
          </p:cNvPr>
          <p:cNvSpPr/>
          <p:nvPr/>
        </p:nvSpPr>
        <p:spPr>
          <a:xfrm>
            <a:off x="6236208" y="6053328"/>
            <a:ext cx="1024128" cy="320040"/>
          </a:xfrm>
          <a:prstGeom prst="roundRect">
            <a:avLst>
              <a:gd name="adj" fmla="val 28571"/>
            </a:avLst>
          </a:prstGeom>
          <a:solidFill>
            <a:srgbClr val="12C2E9">
              <a:alpha val="94000"/>
            </a:srgbClr>
          </a:solidFill>
          <a:ln w="12700">
            <a:solidFill>
              <a:srgbClr val="12C2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6291072" y="6135624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8FBFF"/>
                </a:solidFill>
              </a:rPr>
              <a:t>MODEL</a:t>
            </a:r>
            <a:endParaRPr lang="en-US" sz="820" dirty="0"/>
          </a:p>
        </p:txBody>
      </p:sp>
      <p:sp>
        <p:nvSpPr>
          <p:cNvPr id="55" name="Text 53">
            <a:hlinkClick r:id="rId8" action="ppaction://hlinksldjump"/>
          </p:cNvPr>
          <p:cNvSpPr/>
          <p:nvPr/>
        </p:nvSpPr>
        <p:spPr>
          <a:xfrm>
            <a:off x="6236208" y="6053328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601968"/>
            <a:ext cx="219456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A9B8C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38912" y="7772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2C2E9"/>
                </a:solidFill>
              </a:rPr>
              <a:t>THE THROUGH-LINE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38912" y="1188720"/>
            <a:ext cx="10698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8FBFF"/>
                </a:solidFill>
              </a:rPr>
              <a:t>I do not just manage complexity.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F8FBFF"/>
                </a:solidFill>
              </a:rPr>
              <a:t>I build systems that make progress visible, repeatable and scalable.</a:t>
            </a:r>
            <a:endParaRPr lang="en-US" sz="2800" dirty="0"/>
          </a:p>
        </p:txBody>
      </p:sp>
      <p:sp>
        <p:nvSpPr>
          <p:cNvPr id="4" name="Shape 2">
            <a:hlinkClick r:id="rId3" action="ppaction://hlinksldjump"/>
          </p:cNvPr>
          <p:cNvSpPr/>
          <p:nvPr/>
        </p:nvSpPr>
        <p:spPr>
          <a:xfrm>
            <a:off x="457200" y="2880360"/>
            <a:ext cx="1993392" cy="320040"/>
          </a:xfrm>
          <a:prstGeom prst="roundRect">
            <a:avLst>
              <a:gd name="adj" fmla="val 28571"/>
            </a:avLst>
          </a:prstGeom>
          <a:solidFill>
            <a:srgbClr val="9B87F5">
              <a:alpha val="94000"/>
            </a:srgbClr>
          </a:solidFill>
          <a:ln w="12700">
            <a:solidFill>
              <a:srgbClr val="9B8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12064" y="2962656"/>
            <a:ext cx="18836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8FBFF"/>
                </a:solidFill>
              </a:rPr>
              <a:t>MARKETS</a:t>
            </a:r>
            <a:endParaRPr lang="en-US" sz="820" dirty="0"/>
          </a:p>
        </p:txBody>
      </p:sp>
      <p:sp>
        <p:nvSpPr>
          <p:cNvPr id="6" name="Text 4">
            <a:hlinkClick r:id="rId3" action="ppaction://hlinksldjump"/>
          </p:cNvPr>
          <p:cNvSpPr/>
          <p:nvPr/>
        </p:nvSpPr>
        <p:spPr>
          <a:xfrm>
            <a:off x="457200" y="288036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>
            <a:hlinkClick r:id="rId4" action="ppaction://hlinksldjump"/>
          </p:cNvPr>
          <p:cNvSpPr/>
          <p:nvPr/>
        </p:nvSpPr>
        <p:spPr>
          <a:xfrm>
            <a:off x="2724912" y="2880360"/>
            <a:ext cx="1993392" cy="320040"/>
          </a:xfrm>
          <a:prstGeom prst="roundRect">
            <a:avLst>
              <a:gd name="adj" fmla="val 28571"/>
            </a:avLst>
          </a:prstGeom>
          <a:solidFill>
            <a:srgbClr val="FF9F43">
              <a:alpha val="94000"/>
            </a:srgbClr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79776" y="2962656"/>
            <a:ext cx="18836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8FBFF"/>
                </a:solidFill>
              </a:rPr>
              <a:t>DATA</a:t>
            </a:r>
            <a:endParaRPr lang="en-US" sz="820" dirty="0"/>
          </a:p>
        </p:txBody>
      </p:sp>
      <p:sp>
        <p:nvSpPr>
          <p:cNvPr id="9" name="Text 7">
            <a:hlinkClick r:id="rId4" action="ppaction://hlinksldjump"/>
          </p:cNvPr>
          <p:cNvSpPr/>
          <p:nvPr/>
        </p:nvSpPr>
        <p:spPr>
          <a:xfrm>
            <a:off x="2724912" y="288036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>
            <a:hlinkClick r:id="rId5" action="ppaction://hlinksldjump"/>
          </p:cNvPr>
          <p:cNvSpPr/>
          <p:nvPr/>
        </p:nvSpPr>
        <p:spPr>
          <a:xfrm>
            <a:off x="4992624" y="2880360"/>
            <a:ext cx="1993392" cy="320040"/>
          </a:xfrm>
          <a:prstGeom prst="roundRect">
            <a:avLst>
              <a:gd name="adj" fmla="val 28571"/>
            </a:avLst>
          </a:prstGeom>
          <a:solidFill>
            <a:srgbClr val="12C2E9">
              <a:alpha val="94000"/>
            </a:srgbClr>
          </a:solidFill>
          <a:ln w="12700">
            <a:solidFill>
              <a:srgbClr val="12C2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047488" y="2962656"/>
            <a:ext cx="18836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8FBFF"/>
                </a:solidFill>
              </a:rPr>
              <a:t>DELIVERY</a:t>
            </a:r>
            <a:endParaRPr lang="en-US" sz="820" dirty="0"/>
          </a:p>
        </p:txBody>
      </p:sp>
      <p:sp>
        <p:nvSpPr>
          <p:cNvPr id="12" name="Text 10">
            <a:hlinkClick r:id="rId5" action="ppaction://hlinksldjump"/>
          </p:cNvPr>
          <p:cNvSpPr/>
          <p:nvPr/>
        </p:nvSpPr>
        <p:spPr>
          <a:xfrm>
            <a:off x="4992624" y="288036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>
            <a:hlinkClick r:id="rId4" action="ppaction://hlinksldjump"/>
          </p:cNvPr>
          <p:cNvSpPr/>
          <p:nvPr/>
        </p:nvSpPr>
        <p:spPr>
          <a:xfrm>
            <a:off x="7260336" y="2880360"/>
            <a:ext cx="1993392" cy="320040"/>
          </a:xfrm>
          <a:prstGeom prst="roundRect">
            <a:avLst>
              <a:gd name="adj" fmla="val 28571"/>
            </a:avLst>
          </a:prstGeom>
          <a:solidFill>
            <a:srgbClr val="FF5B7F">
              <a:alpha val="94000"/>
            </a:srgbClr>
          </a:solidFill>
          <a:ln w="12700">
            <a:solidFill>
              <a:srgbClr val="FF5B7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315200" y="2962656"/>
            <a:ext cx="18836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8FBFF"/>
                </a:solidFill>
              </a:rPr>
              <a:t>CLIENTS</a:t>
            </a:r>
            <a:endParaRPr lang="en-US" sz="820" dirty="0"/>
          </a:p>
        </p:txBody>
      </p:sp>
      <p:sp>
        <p:nvSpPr>
          <p:cNvPr id="15" name="Text 13">
            <a:hlinkClick r:id="rId4" action="ppaction://hlinksldjump"/>
          </p:cNvPr>
          <p:cNvSpPr/>
          <p:nvPr/>
        </p:nvSpPr>
        <p:spPr>
          <a:xfrm>
            <a:off x="7260336" y="288036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>
            <a:hlinkClick r:id="rId6" action="ppaction://hlinksldjump"/>
          </p:cNvPr>
          <p:cNvSpPr/>
          <p:nvPr/>
        </p:nvSpPr>
        <p:spPr>
          <a:xfrm>
            <a:off x="9528048" y="2880360"/>
            <a:ext cx="1993392" cy="320040"/>
          </a:xfrm>
          <a:prstGeom prst="roundRect">
            <a:avLst>
              <a:gd name="adj" fmla="val 28571"/>
            </a:avLst>
          </a:prstGeom>
          <a:solidFill>
            <a:srgbClr val="A3E635">
              <a:alpha val="94000"/>
            </a:srgbClr>
          </a:solidFill>
          <a:ln w="1270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582912" y="2962656"/>
            <a:ext cx="18836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8FBFF"/>
                </a:solidFill>
              </a:rPr>
              <a:t>AI</a:t>
            </a:r>
            <a:endParaRPr lang="en-US" sz="820" dirty="0"/>
          </a:p>
        </p:txBody>
      </p:sp>
      <p:sp>
        <p:nvSpPr>
          <p:cNvPr id="18" name="Text 16">
            <a:hlinkClick r:id="rId6" action="ppaction://hlinksldjump"/>
          </p:cNvPr>
          <p:cNvSpPr/>
          <p:nvPr/>
        </p:nvSpPr>
        <p:spPr>
          <a:xfrm>
            <a:off x="9528048" y="288036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57200" y="3767328"/>
            <a:ext cx="11201400" cy="1417320"/>
          </a:xfrm>
          <a:prstGeom prst="roundRect">
            <a:avLst>
              <a:gd name="adj" fmla="val 5161"/>
            </a:avLst>
          </a:prstGeom>
          <a:solidFill>
            <a:srgbClr val="0D2140"/>
          </a:solidFill>
          <a:ln w="12700">
            <a:solidFill>
              <a:srgbClr val="12C2E9"/>
            </a:solidFill>
            <a:prstDash val="solid"/>
          </a:ln>
          <a:effectLst>
            <a:outerShdw blurRad="1524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13232" y="404164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2C2E9"/>
                </a:solidFill>
              </a:rPr>
              <a:t>THE VALUE PROPOSITION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13232" y="441655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BFF"/>
                </a:solidFill>
              </a:rPr>
              <a:t>Financial-markets context + product delivery discipline + automation mindset + executive stakeholder leadership</a:t>
            </a:r>
            <a:endParaRPr lang="en-US" sz="1800" dirty="0"/>
          </a:p>
        </p:txBody>
      </p:sp>
      <p:sp>
        <p:nvSpPr>
          <p:cNvPr id="22" name="Shape 20">
            <a:hlinkClick r:id="rId7" action="ppaction://hlinksldjump"/>
          </p:cNvPr>
          <p:cNvSpPr/>
          <p:nvPr/>
        </p:nvSpPr>
        <p:spPr>
          <a:xfrm>
            <a:off x="9400032" y="5669280"/>
            <a:ext cx="2240280" cy="320040"/>
          </a:xfrm>
          <a:prstGeom prst="roundRect">
            <a:avLst>
              <a:gd name="adj" fmla="val 28571"/>
            </a:avLst>
          </a:prstGeom>
          <a:solidFill>
            <a:srgbClr val="12C2E9">
              <a:alpha val="94000"/>
            </a:srgbClr>
          </a:solidFill>
          <a:ln w="12700">
            <a:solidFill>
              <a:srgbClr val="12C2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9454896" y="5751576"/>
            <a:ext cx="21305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8FBFF"/>
                </a:solidFill>
              </a:rPr>
              <a:t>RESTART EXPERIENCE ↺</a:t>
            </a:r>
            <a:endParaRPr lang="en-US" sz="820" dirty="0"/>
          </a:p>
        </p:txBody>
      </p:sp>
      <p:sp>
        <p:nvSpPr>
          <p:cNvPr id="24" name="Text 22">
            <a:hlinkClick r:id="rId7" action="ppaction://hlinksldjump"/>
          </p:cNvPr>
          <p:cNvSpPr/>
          <p:nvPr/>
        </p:nvSpPr>
        <p:spPr>
          <a:xfrm>
            <a:off x="9400032" y="5669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601968"/>
            <a:ext cx="219456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A9B8C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753</Words>
  <Application>Microsoft Office PowerPoint</Application>
  <PresentationFormat>Widescreen</PresentationFormat>
  <Paragraphs>213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Turning Complexity Into Progress Since Day One</dc:title>
  <dc:subject>Editable interactive professional experience portfolio</dc:subject>
  <dc:creator>Srishti Sharma</dc:creator>
  <cp:lastModifiedBy>Srishti Sharma</cp:lastModifiedBy>
  <cp:revision>2</cp:revision>
  <dcterms:created xsi:type="dcterms:W3CDTF">2026-09-22T14:46:20Z</dcterms:created>
  <dcterms:modified xsi:type="dcterms:W3CDTF">2026-09-22T14:53:26Z</dcterms:modified>
</cp:coreProperties>
</file>